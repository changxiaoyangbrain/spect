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70" r:id="rId7"/>
    <p:sldId id="274" r:id="rId8"/>
    <p:sldId id="278" r:id="rId9"/>
    <p:sldId id="279" r:id="rId10"/>
    <p:sldId id="281" r:id="rId11"/>
    <p:sldId id="269" r:id="rId12"/>
    <p:sldId id="271" r:id="rId13"/>
    <p:sldId id="272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兴春 郑" initials="兴郑" lastIdx="1" clrIdx="0">
    <p:extLst>
      <p:ext uri="{19B8F6BF-5375-455C-9EA6-DF929625EA0E}">
        <p15:presenceInfo xmlns:p15="http://schemas.microsoft.com/office/powerpoint/2012/main" userId="0b6351b3fd451a7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472C4"/>
    <a:srgbClr val="70AD4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88163" autoAdjust="0"/>
  </p:normalViewPr>
  <p:slideViewPr>
    <p:cSldViewPr snapToGrid="0">
      <p:cViewPr>
        <p:scale>
          <a:sx n="125" d="100"/>
          <a:sy n="125" d="100"/>
        </p:scale>
        <p:origin x="359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C53C3-BB7F-4E6E-AB28-2E4C4FDA638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0C35C-842C-46A4-B49D-3FBC76C8A0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02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C35C-842C-46A4-B49D-3FBC76C8A06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571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C35C-842C-46A4-B49D-3FBC76C8A06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202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C35C-842C-46A4-B49D-3FBC76C8A06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645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C35C-842C-46A4-B49D-3FBC76C8A06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134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C35C-842C-46A4-B49D-3FBC76C8A06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42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C35C-842C-46A4-B49D-3FBC76C8A06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564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C35C-842C-46A4-B49D-3FBC76C8A06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573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C35C-842C-46A4-B49D-3FBC76C8A06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637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C35C-842C-46A4-B49D-3FBC76C8A06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341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C35C-842C-46A4-B49D-3FBC76C8A06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510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C35C-842C-46A4-B49D-3FBC76C8A06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285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082C3-446B-8805-B100-FE18AF243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0108D0-A842-BC93-C7CB-0AFDEBCF0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245799-36A9-9055-6DBA-9D7A608B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FC0-1F1E-47F5-99F4-E133CD0DB84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C0975B-159E-9A96-B65D-71C15C03C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4C9450-2796-3EEA-EB54-4F3B3FA7B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BADA-FDD6-4E69-BFC7-DFC7B5F78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203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01C49-16EF-20FB-B302-22258AD7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9734C-1589-AA03-18A9-3F8669AC6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85E795-9851-A10B-567E-7152C3CFC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FC0-1F1E-47F5-99F4-E133CD0DB84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0E93B2-5B2F-A0E4-F3B4-E10D5BD98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ECBD18-7A36-8B70-BAC5-6E7C8E0CD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BADA-FDD6-4E69-BFC7-DFC7B5F78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267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C8F49-7E87-BFEB-A28C-AB212CA86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91DE31-926B-EE31-8CFC-EAE991C74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19747-B46B-0A5F-C952-C48D4A49D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FC0-1F1E-47F5-99F4-E133CD0DB84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CF97C1-9980-B75A-2448-158F459E2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658FD3-D564-57BE-0976-AB619393F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BADA-FDD6-4E69-BFC7-DFC7B5F78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306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2BAD5-BCF2-E8A2-4BE5-2D32A0C5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67459B-5683-7F49-2F7E-28565A152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BFB729-9D53-6E4F-C6EB-AC4C9A644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04F5F9-6A1C-6132-C690-8C78C8331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FC0-1F1E-47F5-99F4-E133CD0DB84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48052D-39E1-9431-281D-FD733168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ACE616-7366-70DF-F4A8-5175137D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BADA-FDD6-4E69-BFC7-DFC7B5F78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20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DDF50-C51D-24C3-5E77-F3837E67D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2B5E8C-AE35-5925-AA5F-191CA50B1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CE58A8-3EA0-9020-D2B9-64E13F7B6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8BF24CB-9D41-3501-AEA6-200325EE1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89E13B-917E-EA24-7680-58BAAA259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0978C6-E1CF-DE04-F0C5-F366612CB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FC0-1F1E-47F5-99F4-E133CD0DB84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ECA03E-6DF4-08CD-E88E-E45CEA60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37797F-0721-E48A-6FE5-D792F813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BADA-FDD6-4E69-BFC7-DFC7B5F78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80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9A359-6267-1481-A154-521EF833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2F2A1C-AA9C-2DD6-4BEE-C5B935AF8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FC0-1F1E-47F5-99F4-E133CD0DB84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71C3E7-6612-CEB9-DEE0-0576D0CA4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A16BD2-B0BD-DCE0-1075-047CEA123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BADA-FDD6-4E69-BFC7-DFC7B5F78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44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8FD453-D113-728E-EFCE-704D6F54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FC0-1F1E-47F5-99F4-E133CD0DB84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0AE2EE1-9641-2257-035D-01A4C8F83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41FFB0-CC1E-6C79-0C35-6DD3F6910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BADA-FDD6-4E69-BFC7-DFC7B5F78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162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EA8A2-1D25-F069-53A1-C1C17855C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7A4A30-D3EF-01D4-8486-E57FBD753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D4CC43-81E0-2261-BFA6-12DE5C264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F2FF9C-1C29-B491-D4FF-5E178CF9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FC0-1F1E-47F5-99F4-E133CD0DB84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97C1C8-AB74-50D7-9739-F02F41A00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294E17-A727-9B5C-0CA3-F2334AC7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BADA-FDD6-4E69-BFC7-DFC7B5F78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588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34B57-BACD-4246-3D67-1A16EA4FB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2B6E83-9AD6-D64C-48DF-BB55CB2288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BAA776-C556-3E0C-BAFE-0816FB25D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BE27CF-58CB-8329-9050-313713B4D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FC0-1F1E-47F5-99F4-E133CD0DB84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F9D20D-350C-1F9E-475F-477B83FC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6E949E-3B41-BAC2-5081-467A89034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BADA-FDD6-4E69-BFC7-DFC7B5F78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36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D1C50-16C3-4FEC-4081-71D19C83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ECEC2C-9E0E-ED24-5EAF-15BDF84AB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40F174-4D3F-5C44-C8C8-62848FAE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FC0-1F1E-47F5-99F4-E133CD0DB84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ACEE07-31C8-0D46-BCD6-9CA3F3A3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870C53-425C-0FB9-8667-7A3E1FEF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BADA-FDD6-4E69-BFC7-DFC7B5F78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72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95B297-6B07-8C0F-A7EC-22B9F0C7AB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4707C2-344A-A1E9-8165-6DBB80557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C72CBF-06FE-815B-21EC-3B922D9F8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FC0-1F1E-47F5-99F4-E133CD0DB84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A7617C-FDD1-C77D-8395-64B2E503D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1383AE-F1AC-83FA-8093-1CA63DA1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BADA-FDD6-4E69-BFC7-DFC7B5F78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185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CF738F-625C-6EB1-3DC3-6DC3F8CB2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C216F6-2E74-C364-FD10-72AF7E842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75CF40-9430-95EC-F964-8E42C687F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C3FC0-1F1E-47F5-99F4-E133CD0DB84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7BBD0-0D63-EE51-179B-EDF250D0A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79BEED-0EAA-DAA8-25EE-98D411A11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FBADA-FDD6-4E69-BFC7-DFC7B5F78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959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13CBE-380A-D651-90B7-351E81A26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SPECT</a:t>
            </a:r>
            <a:r>
              <a:rPr lang="zh-CN" altLang="en-US" dirty="0"/>
              <a:t>大作业</a:t>
            </a:r>
          </a:p>
        </p:txBody>
      </p:sp>
    </p:spTree>
    <p:extLst>
      <p:ext uri="{BB962C8B-B14F-4D97-AF65-F5344CB8AC3E}">
        <p14:creationId xmlns:p14="http://schemas.microsoft.com/office/powerpoint/2010/main" val="2363892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628F491-01C7-D99D-2F75-D73F785EF604}"/>
              </a:ext>
            </a:extLst>
          </p:cNvPr>
          <p:cNvSpPr txBox="1"/>
          <p:nvPr/>
        </p:nvSpPr>
        <p:spPr>
          <a:xfrm>
            <a:off x="0" y="173991"/>
            <a:ext cx="12192000" cy="6684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SPECT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期末大作业</a:t>
            </a:r>
            <a:r>
              <a:rPr lang="zh-CN" altLang="en-US" sz="2400" b="1" dirty="0"/>
              <a:t>任务概述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en-US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根据某商业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SPECT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实际采得的临床人体投影数据：</a:t>
            </a:r>
            <a:endParaRPr lang="en-US" altLang="zh-CN" sz="2400" b="0" i="0" dirty="0">
              <a:solidFill>
                <a:srgbClr val="000000"/>
              </a:solidFill>
              <a:effectLst/>
              <a:ea typeface="DengXian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1.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编写代码，实现对投影数据的重建，得到重建图像；</a:t>
            </a:r>
            <a:endParaRPr lang="en-US" altLang="zh-CN" sz="2400" b="0" i="0" dirty="0">
              <a:solidFill>
                <a:srgbClr val="000000"/>
              </a:solidFill>
              <a:effectLst/>
              <a:ea typeface="DengXian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ea typeface="DengXian" panose="02010600030101010101" pitchFamily="2" charset="-122"/>
              </a:rPr>
              <a:t>2.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评估图像质量，并对重建结果进行分析。</a:t>
            </a:r>
            <a:endParaRPr lang="en-US" altLang="zh-CN" sz="2400" b="0" i="0" dirty="0">
              <a:solidFill>
                <a:srgbClr val="000000"/>
              </a:solidFill>
              <a:effectLst/>
              <a:ea typeface="DengXian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作业提交内容</a:t>
            </a:r>
            <a:r>
              <a:rPr lang="zh-CN" altLang="en-US" sz="2400" b="1" dirty="0">
                <a:solidFill>
                  <a:srgbClr val="000000"/>
                </a:solidFill>
                <a:ea typeface="DengXian" panose="02010600030101010101" pitchFamily="2" charset="-122"/>
              </a:rPr>
              <a:t>与要求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：</a:t>
            </a:r>
            <a:endParaRPr lang="en-US" altLang="zh-CN" sz="2400" b="1" dirty="0">
              <a:solidFill>
                <a:srgbClr val="000000"/>
              </a:solidFill>
              <a:ea typeface="DengXian" panose="02010600030101010101" pitchFamily="2" charset="-122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大作业报告（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word/pdf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格式）。报告应至少包括系统传输矩阵建模方法、重建算法、重建结果、分析讨论等内容。</a:t>
            </a:r>
            <a:endParaRPr lang="en-US" altLang="zh-CN" sz="2400" b="0" i="0" dirty="0">
              <a:solidFill>
                <a:srgbClr val="000000"/>
              </a:solidFill>
              <a:effectLst/>
              <a:ea typeface="DengXian" panose="02010600030101010101" pitchFamily="2" charset="-122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图像重建代码。编程语言不限。</a:t>
            </a:r>
            <a:endParaRPr lang="en-US" altLang="zh-CN" sz="2400" b="0" i="0" dirty="0">
              <a:solidFill>
                <a:srgbClr val="000000"/>
              </a:solidFill>
              <a:effectLst/>
              <a:ea typeface="DengXian" panose="02010600030101010101" pitchFamily="2" charset="-122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400" dirty="0">
                <a:solidFill>
                  <a:srgbClr val="000000"/>
                </a:solidFill>
                <a:ea typeface="DengXian" panose="02010600030101010101" pitchFamily="2" charset="-122"/>
              </a:rPr>
              <a:t>代码中应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包含清晰的注释（关键变量、关键步骤、主要程序段结构）。提交的代码可以跑通，并在可接受的计算时间内复现报告中的相关结果。</a:t>
            </a:r>
            <a:endParaRPr lang="en-US" altLang="zh-CN" sz="2400" dirty="0">
              <a:solidFill>
                <a:srgbClr val="000000"/>
              </a:solidFill>
              <a:ea typeface="DengXian" panose="02010600030101010101" pitchFamily="2" charset="-122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400" dirty="0">
                <a:solidFill>
                  <a:srgbClr val="000000"/>
                </a:solidFill>
                <a:ea typeface="DengXian" panose="02010600030101010101" pitchFamily="2" charset="-122"/>
              </a:rPr>
              <a:t>重建结果请导入</a:t>
            </a:r>
            <a:r>
              <a:rPr lang="en-US" altLang="zh-CN" sz="2400" dirty="0">
                <a:solidFill>
                  <a:srgbClr val="000000"/>
                </a:solidFill>
                <a:ea typeface="DengXian" panose="02010600030101010101" pitchFamily="2" charset="-122"/>
              </a:rPr>
              <a:t>Amide</a:t>
            </a:r>
            <a:r>
              <a:rPr lang="zh-CN" altLang="en-US" sz="2400" dirty="0">
                <a:solidFill>
                  <a:srgbClr val="000000"/>
                </a:solidFill>
                <a:ea typeface="DengXian" panose="02010600030101010101" pitchFamily="2" charset="-122"/>
              </a:rPr>
              <a:t>软件并保存为</a:t>
            </a:r>
            <a:r>
              <a:rPr lang="en-US" altLang="zh-CN" sz="2400" dirty="0">
                <a:solidFill>
                  <a:srgbClr val="000000"/>
                </a:solidFill>
                <a:ea typeface="DengXian" panose="02010600030101010101" pitchFamily="2" charset="-122"/>
              </a:rPr>
              <a:t>.</a:t>
            </a:r>
            <a:r>
              <a:rPr lang="en-US" altLang="zh-CN" sz="2400" dirty="0" err="1">
                <a:solidFill>
                  <a:srgbClr val="000000"/>
                </a:solidFill>
                <a:ea typeface="DengXian" panose="02010600030101010101" pitchFamily="2" charset="-122"/>
              </a:rPr>
              <a:t>xif</a:t>
            </a:r>
            <a:r>
              <a:rPr lang="zh-CN" altLang="en-US" sz="2400">
                <a:solidFill>
                  <a:srgbClr val="000000"/>
                </a:solidFill>
                <a:ea typeface="DengXian" panose="02010600030101010101" pitchFamily="2" charset="-122"/>
              </a:rPr>
              <a:t>文件。</a:t>
            </a:r>
            <a:endParaRPr lang="en-US" altLang="zh-CN" sz="2400" dirty="0">
              <a:solidFill>
                <a:srgbClr val="000000"/>
              </a:solidFill>
              <a:ea typeface="DengXian" panose="02010600030101010101" pitchFamily="2" charset="-122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400" dirty="0">
                <a:solidFill>
                  <a:srgbClr val="000000"/>
                </a:solidFill>
                <a:ea typeface="DengXian" panose="02010600030101010101" pitchFamily="2" charset="-122"/>
              </a:rPr>
              <a:t>请将作业打包为一个压缩文件上传网络学堂。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93597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628F491-01C7-D99D-2F75-D73F785EF604}"/>
              </a:ext>
            </a:extLst>
          </p:cNvPr>
          <p:cNvSpPr txBox="1"/>
          <p:nvPr/>
        </p:nvSpPr>
        <p:spPr>
          <a:xfrm>
            <a:off x="0" y="363994"/>
            <a:ext cx="12192000" cy="1698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SPECT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成像系统及成像过程描述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ea typeface="DengXian" panose="02010600030101010101" pitchFamily="2" charset="-122"/>
              </a:rPr>
              <a:t>	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本次大作业使用某商业临床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SPECT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系统对病人进行心肌灌注扫描得到的投影数据进行重建。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A1D16F-8881-FC1B-9C6C-58304F50099B}"/>
              </a:ext>
            </a:extLst>
          </p:cNvPr>
          <p:cNvSpPr txBox="1"/>
          <p:nvPr/>
        </p:nvSpPr>
        <p:spPr>
          <a:xfrm>
            <a:off x="-1" y="2382982"/>
            <a:ext cx="5467927" cy="3729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）场景概述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400" dirty="0">
                <a:latin typeface="+mn-ea"/>
              </a:rPr>
              <a:t>本次作业中的</a:t>
            </a:r>
            <a:r>
              <a:rPr lang="en-US" altLang="zh-CN" sz="2400" dirty="0">
                <a:latin typeface="+mn-ea"/>
              </a:rPr>
              <a:t>SPECT </a:t>
            </a:r>
            <a:r>
              <a:rPr lang="zh-CN" altLang="en-US" sz="2400" dirty="0">
                <a:latin typeface="+mn-ea"/>
              </a:rPr>
              <a:t>系统为一个可变角双探头</a:t>
            </a:r>
            <a:r>
              <a:rPr lang="en-US" altLang="zh-CN" sz="2400" dirty="0">
                <a:latin typeface="+mn-ea"/>
              </a:rPr>
              <a:t>SPECT</a:t>
            </a:r>
            <a:r>
              <a:rPr lang="zh-CN" altLang="en-US" sz="2400" dirty="0">
                <a:latin typeface="+mn-ea"/>
              </a:rPr>
              <a:t>，每个探头都装备平行孔准直器。在进行心肌灌注显像时，两个探头互相垂直呈“</a:t>
            </a:r>
            <a:r>
              <a:rPr lang="en-US" altLang="zh-CN" sz="2400" dirty="0">
                <a:latin typeface="+mn-ea"/>
              </a:rPr>
              <a:t>L”</a:t>
            </a:r>
            <a:r>
              <a:rPr lang="zh-CN" altLang="en-US" sz="2400" dirty="0">
                <a:latin typeface="+mn-ea"/>
              </a:rPr>
              <a:t>型，尽量贴近人体，进行轮廓跟踪采集。扫描场景如图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所示。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45ED07D-3C72-5A2C-588F-B1DF9AE7FC98}"/>
              </a:ext>
            </a:extLst>
          </p:cNvPr>
          <p:cNvGrpSpPr/>
          <p:nvPr/>
        </p:nvGrpSpPr>
        <p:grpSpPr>
          <a:xfrm>
            <a:off x="5676610" y="2062023"/>
            <a:ext cx="5711826" cy="4432658"/>
            <a:chOff x="5602720" y="1890202"/>
            <a:chExt cx="5711826" cy="4432658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75E5297B-4520-C088-DCC7-D63B37C67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2720" y="1890202"/>
              <a:ext cx="5711826" cy="40325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7E3DE1F-0675-C699-B5EF-D83B938D7004}"/>
                </a:ext>
              </a:extLst>
            </p:cNvPr>
            <p:cNvSpPr txBox="1"/>
            <p:nvPr/>
          </p:nvSpPr>
          <p:spPr>
            <a:xfrm>
              <a:off x="7337974" y="5922750"/>
              <a:ext cx="22413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/>
                <a:t>图</a:t>
              </a:r>
              <a:r>
                <a:rPr lang="en-US" altLang="zh-CN" sz="2000" dirty="0"/>
                <a:t>1. </a:t>
              </a:r>
              <a:r>
                <a:rPr lang="zh-CN" altLang="en-US" sz="2000" dirty="0"/>
                <a:t>扫描场景示意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985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49B3F1-0339-B40E-B54D-F3163BA75774}"/>
              </a:ext>
            </a:extLst>
          </p:cNvPr>
          <p:cNvSpPr txBox="1"/>
          <p:nvPr/>
        </p:nvSpPr>
        <p:spPr>
          <a:xfrm>
            <a:off x="-1" y="332510"/>
            <a:ext cx="12192001" cy="1513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SPECT</a:t>
            </a:r>
            <a:r>
              <a:rPr lang="zh-CN" altLang="en-US" sz="2400" b="1" dirty="0"/>
              <a:t>系统数据采集流程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000" dirty="0">
                <a:latin typeface="+mn-ea"/>
              </a:rPr>
              <a:t>系统双探头互相垂直呈“</a:t>
            </a:r>
            <a:r>
              <a:rPr lang="en-US" altLang="zh-CN" sz="2000" dirty="0">
                <a:latin typeface="+mn-ea"/>
              </a:rPr>
              <a:t>L</a:t>
            </a:r>
            <a:r>
              <a:rPr lang="zh-CN" altLang="en-US" sz="2000" dirty="0">
                <a:latin typeface="+mn-ea"/>
              </a:rPr>
              <a:t>”形，绕视野轴向以椭圆轨道逆时针旋转 </a:t>
            </a:r>
            <a:r>
              <a:rPr lang="en-US" altLang="zh-CN" sz="2000" dirty="0">
                <a:latin typeface="+mn-ea"/>
              </a:rPr>
              <a:t>90 °</a:t>
            </a:r>
            <a:r>
              <a:rPr lang="zh-CN" altLang="en-US" sz="2000" dirty="0">
                <a:latin typeface="+mn-ea"/>
              </a:rPr>
              <a:t>采集投影数据，如图 </a:t>
            </a:r>
            <a:r>
              <a:rPr lang="en-US" altLang="zh-CN" sz="2000" dirty="0">
                <a:latin typeface="+mn-ea"/>
              </a:rPr>
              <a:t>2 </a:t>
            </a:r>
            <a:r>
              <a:rPr lang="zh-CN" altLang="en-US" sz="2000" dirty="0">
                <a:latin typeface="+mn-ea"/>
              </a:rPr>
              <a:t>所示。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endParaRPr lang="zh-CN" altLang="en-US" sz="24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AF5DC24-E362-73E0-1AAE-29D8A76BE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269660"/>
              </p:ext>
            </p:extLst>
          </p:nvPr>
        </p:nvGraphicFramePr>
        <p:xfrm>
          <a:off x="2122281" y="5870244"/>
          <a:ext cx="8326042" cy="80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709">
                  <a:extLst>
                    <a:ext uri="{9D8B030D-6E8A-4147-A177-3AD203B41FA5}">
                      <a16:colId xmlns:a16="http://schemas.microsoft.com/office/drawing/2014/main" val="3131558922"/>
                    </a:ext>
                  </a:extLst>
                </a:gridCol>
                <a:gridCol w="919473">
                  <a:extLst>
                    <a:ext uri="{9D8B030D-6E8A-4147-A177-3AD203B41FA5}">
                      <a16:colId xmlns:a16="http://schemas.microsoft.com/office/drawing/2014/main" val="2891313501"/>
                    </a:ext>
                  </a:extLst>
                </a:gridCol>
                <a:gridCol w="1023285">
                  <a:extLst>
                    <a:ext uri="{9D8B030D-6E8A-4147-A177-3AD203B41FA5}">
                      <a16:colId xmlns:a16="http://schemas.microsoft.com/office/drawing/2014/main" val="4026014276"/>
                    </a:ext>
                  </a:extLst>
                </a:gridCol>
                <a:gridCol w="3638850">
                  <a:extLst>
                    <a:ext uri="{9D8B030D-6E8A-4147-A177-3AD203B41FA5}">
                      <a16:colId xmlns:a16="http://schemas.microsoft.com/office/drawing/2014/main" val="2952827293"/>
                    </a:ext>
                  </a:extLst>
                </a:gridCol>
                <a:gridCol w="1551725">
                  <a:extLst>
                    <a:ext uri="{9D8B030D-6E8A-4147-A177-3AD203B41FA5}">
                      <a16:colId xmlns:a16="http://schemas.microsoft.com/office/drawing/2014/main" val="3753961495"/>
                    </a:ext>
                  </a:extLst>
                </a:gridCol>
              </a:tblGrid>
              <a:tr h="24076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第一位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第二位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第三位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第四位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346712"/>
                  </a:ext>
                </a:extLst>
              </a:tr>
              <a:tr h="441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xlsx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索引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角度</a:t>
                      </a:r>
                      <a:r>
                        <a:rPr lang="en-US" altLang="zh-CN" dirty="0"/>
                        <a:t>/°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准直器前表面到旋转中心距离</a:t>
                      </a:r>
                      <a:r>
                        <a:rPr lang="en-US" altLang="zh-CN" dirty="0"/>
                        <a:t>/mm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探测器索引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047368"/>
                  </a:ext>
                </a:extLst>
              </a:tr>
            </a:tbl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AC392C2F-BC45-508D-72BF-BA5A464F03D3}"/>
              </a:ext>
            </a:extLst>
          </p:cNvPr>
          <p:cNvGrpSpPr/>
          <p:nvPr/>
        </p:nvGrpSpPr>
        <p:grpSpPr>
          <a:xfrm>
            <a:off x="2481047" y="1504452"/>
            <a:ext cx="6240198" cy="2693351"/>
            <a:chOff x="1836427" y="1472964"/>
            <a:chExt cx="6814832" cy="294137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62330F1-16DD-D00F-99BA-B65AE70DA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1200" y="1472964"/>
              <a:ext cx="3674471" cy="2941371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CC5EB2A-9D0C-C683-6AA9-E04D307A1A5D}"/>
                </a:ext>
              </a:extLst>
            </p:cNvPr>
            <p:cNvSpPr txBox="1"/>
            <p:nvPr/>
          </p:nvSpPr>
          <p:spPr>
            <a:xfrm>
              <a:off x="1836427" y="2723394"/>
              <a:ext cx="1800493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探头逆时针旋转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4B3BDF4-7DC2-6DD4-F782-11C8EFED8EEC}"/>
                </a:ext>
              </a:extLst>
            </p:cNvPr>
            <p:cNvSpPr txBox="1"/>
            <p:nvPr/>
          </p:nvSpPr>
          <p:spPr>
            <a:xfrm>
              <a:off x="5359862" y="2846353"/>
              <a:ext cx="110799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旋转中心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B4BEFF4-D178-B0A3-0273-A8985412B135}"/>
                </a:ext>
              </a:extLst>
            </p:cNvPr>
            <p:cNvCxnSpPr>
              <a:cxnSpLocks/>
            </p:cNvCxnSpPr>
            <p:nvPr/>
          </p:nvCxnSpPr>
          <p:spPr>
            <a:xfrm>
              <a:off x="5995458" y="1838234"/>
              <a:ext cx="1115821" cy="1093440"/>
            </a:xfrm>
            <a:prstGeom prst="line">
              <a:avLst/>
            </a:prstGeom>
            <a:ln w="571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5FA233D-3FA2-273D-005D-C4CB7EA3B2E5}"/>
                </a:ext>
              </a:extLst>
            </p:cNvPr>
            <p:cNvSpPr txBox="1"/>
            <p:nvPr/>
          </p:nvSpPr>
          <p:spPr>
            <a:xfrm>
              <a:off x="7081600" y="3049130"/>
              <a:ext cx="1569659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准直器前表面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B999D307-AF10-EA61-B3A3-A43731CFE874}"/>
              </a:ext>
            </a:extLst>
          </p:cNvPr>
          <p:cNvSpPr txBox="1"/>
          <p:nvPr/>
        </p:nvSpPr>
        <p:spPr>
          <a:xfrm>
            <a:off x="5000116" y="4266257"/>
            <a:ext cx="2241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图</a:t>
            </a:r>
            <a:r>
              <a:rPr lang="en-US" altLang="zh-CN" sz="2000" dirty="0"/>
              <a:t>2. </a:t>
            </a:r>
            <a:r>
              <a:rPr lang="zh-CN" altLang="en-US" sz="2000" dirty="0"/>
              <a:t>扫描轨道示意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C18D4D-89F3-4070-9941-17A44F661F94}"/>
              </a:ext>
            </a:extLst>
          </p:cNvPr>
          <p:cNvSpPr txBox="1"/>
          <p:nvPr/>
        </p:nvSpPr>
        <p:spPr>
          <a:xfrm>
            <a:off x="103761" y="4734821"/>
            <a:ext cx="11873401" cy="968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     数据采集过程中，每隔 </a:t>
            </a:r>
            <a:r>
              <a:rPr lang="en-US" altLang="zh-CN" sz="2000" dirty="0">
                <a:latin typeface="+mn-ea"/>
              </a:rPr>
              <a:t>2.8125°</a:t>
            </a:r>
            <a:r>
              <a:rPr lang="zh-CN" altLang="en-US" sz="2000" dirty="0">
                <a:latin typeface="+mn-ea"/>
              </a:rPr>
              <a:t>进行一次采集，每个探头采集</a:t>
            </a:r>
            <a:r>
              <a:rPr lang="en-US" altLang="zh-CN" sz="2000" dirty="0">
                <a:latin typeface="+mn-ea"/>
              </a:rPr>
              <a:t>32</a:t>
            </a:r>
            <a:r>
              <a:rPr lang="zh-CN" altLang="en-US" sz="2000" dirty="0">
                <a:latin typeface="+mn-ea"/>
              </a:rPr>
              <a:t>个角度，共采集 </a:t>
            </a:r>
            <a:r>
              <a:rPr lang="en-US" altLang="zh-CN" sz="2000" dirty="0">
                <a:latin typeface="+mn-ea"/>
              </a:rPr>
              <a:t>32*2</a:t>
            </a:r>
            <a:r>
              <a:rPr lang="zh-CN" altLang="en-US" sz="2000" dirty="0">
                <a:latin typeface="+mn-ea"/>
              </a:rPr>
              <a:t>个角度，每个角度采集</a:t>
            </a:r>
            <a:r>
              <a:rPr lang="en-US" altLang="zh-CN" sz="2000" dirty="0">
                <a:latin typeface="+mn-ea"/>
              </a:rPr>
              <a:t>20s</a:t>
            </a:r>
            <a:r>
              <a:rPr lang="zh-CN" altLang="en-US" sz="2000" dirty="0">
                <a:latin typeface="+mn-ea"/>
              </a:rPr>
              <a:t>。采集轨道数据见</a:t>
            </a:r>
            <a:r>
              <a:rPr lang="en-US" altLang="zh-CN" sz="2000" dirty="0">
                <a:latin typeface="+mn-ea"/>
              </a:rPr>
              <a:t>orbit.xlsx</a:t>
            </a:r>
            <a:r>
              <a:rPr lang="zh-CN" altLang="en-US" sz="2000" dirty="0">
                <a:latin typeface="+mn-ea"/>
              </a:rPr>
              <a:t>文件。文件说明如下：</a:t>
            </a:r>
            <a:endParaRPr lang="en-US" altLang="zh-CN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671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49B3F1-0339-B40E-B54D-F3163BA75774}"/>
              </a:ext>
            </a:extLst>
          </p:cNvPr>
          <p:cNvSpPr txBox="1"/>
          <p:nvPr/>
        </p:nvSpPr>
        <p:spPr>
          <a:xfrm>
            <a:off x="-1" y="332510"/>
            <a:ext cx="12192001" cy="3277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SPECT</a:t>
            </a:r>
            <a:r>
              <a:rPr lang="zh-CN" altLang="en-US" sz="2400" b="1" dirty="0"/>
              <a:t>系统探测器与投影数据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000" dirty="0">
                <a:latin typeface="+mn-ea"/>
              </a:rPr>
              <a:t>系统的两个探头是全同的，每个探头包含一个装备了平行孔准直器的平板探测器，每个平板探测器由</a:t>
            </a:r>
            <a:r>
              <a:rPr lang="en-US" altLang="zh-CN" sz="2000" dirty="0">
                <a:latin typeface="+mn-ea"/>
              </a:rPr>
              <a:t>128*128</a:t>
            </a:r>
            <a:r>
              <a:rPr lang="zh-CN" altLang="en-US" sz="2000" dirty="0">
                <a:latin typeface="+mn-ea"/>
              </a:rPr>
              <a:t>个探测单元构成，探测单元尺寸为</a:t>
            </a:r>
            <a:r>
              <a:rPr lang="en-US" altLang="zh-CN" sz="2000" dirty="0">
                <a:latin typeface="+mn-ea"/>
              </a:rPr>
              <a:t>3.30*3.30mm</a:t>
            </a:r>
            <a:r>
              <a:rPr lang="zh-CN" altLang="en-US" sz="2000" dirty="0">
                <a:latin typeface="+mn-ea"/>
              </a:rPr>
              <a:t>，固有分辨率</a:t>
            </a:r>
            <a:r>
              <a:rPr lang="en-US" altLang="zh-CN" sz="2000" dirty="0">
                <a:latin typeface="+mn-ea"/>
              </a:rPr>
              <a:t>3.7mm</a:t>
            </a:r>
            <a:r>
              <a:rPr lang="zh-CN" altLang="en-US" sz="2000" dirty="0">
                <a:latin typeface="+mn-ea"/>
              </a:rPr>
              <a:t>（</a:t>
            </a:r>
            <a:r>
              <a:rPr lang="en-US" altLang="zh-CN" sz="2000" dirty="0">
                <a:latin typeface="+mn-ea"/>
              </a:rPr>
              <a:t>FWHM</a:t>
            </a:r>
            <a:r>
              <a:rPr lang="zh-CN" altLang="en-US" sz="2000" dirty="0">
                <a:latin typeface="+mn-ea"/>
              </a:rPr>
              <a:t>）。可以理想化地认为探测器晶体无限薄，但衰减系数无限大。</a:t>
            </a:r>
            <a:endParaRPr lang="en-US" altLang="zh-CN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	</a:t>
            </a:r>
            <a:r>
              <a:rPr lang="zh-CN" altLang="en-US" sz="2000" dirty="0">
                <a:latin typeface="+mn-ea"/>
              </a:rPr>
              <a:t>投影数据见</a:t>
            </a:r>
            <a:r>
              <a:rPr lang="en-US" altLang="zh-CN" sz="2000" dirty="0">
                <a:latin typeface="+mn-ea"/>
              </a:rPr>
              <a:t>Proj.dat</a:t>
            </a:r>
            <a:r>
              <a:rPr lang="zh-CN" altLang="en-US" sz="2000" dirty="0">
                <a:latin typeface="+mn-ea"/>
              </a:rPr>
              <a:t>二进制文件，数据类型为</a:t>
            </a:r>
            <a:r>
              <a:rPr lang="en-US" altLang="zh-CN" sz="2000" dirty="0">
                <a:latin typeface="+mn-ea"/>
              </a:rPr>
              <a:t>float32,  little Endian</a:t>
            </a:r>
            <a:r>
              <a:rPr lang="zh-CN" altLang="en-US" sz="2000" dirty="0">
                <a:latin typeface="+mn-ea"/>
              </a:rPr>
              <a:t>。投影文件组织格式为</a:t>
            </a:r>
            <a:r>
              <a:rPr lang="en-US" altLang="zh-CN" sz="2000" dirty="0">
                <a:latin typeface="+mn-ea"/>
              </a:rPr>
              <a:t>128*128*64</a:t>
            </a:r>
            <a:r>
              <a:rPr lang="zh-CN" altLang="en-US" sz="2000" dirty="0">
                <a:latin typeface="+mn-ea"/>
              </a:rPr>
              <a:t>。其中第三个维度对应探头的</a:t>
            </a:r>
            <a:r>
              <a:rPr lang="en-US" altLang="zh-CN" sz="2000" dirty="0">
                <a:latin typeface="+mn-ea"/>
              </a:rPr>
              <a:t>64</a:t>
            </a:r>
            <a:r>
              <a:rPr lang="zh-CN" altLang="en-US" sz="2000" dirty="0">
                <a:latin typeface="+mn-ea"/>
              </a:rPr>
              <a:t>个采集角度，与</a:t>
            </a:r>
            <a:r>
              <a:rPr lang="en-US" altLang="zh-CN" sz="2000" dirty="0">
                <a:latin typeface="+mn-ea"/>
              </a:rPr>
              <a:t>orbit.xlsx</a:t>
            </a:r>
            <a:r>
              <a:rPr lang="zh-CN" altLang="en-US" sz="2000" dirty="0">
                <a:latin typeface="+mn-ea"/>
              </a:rPr>
              <a:t>文件按顺序一一对应。</a:t>
            </a:r>
            <a:endParaRPr lang="en-US" altLang="zh-CN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	</a:t>
            </a:r>
            <a:r>
              <a:rPr lang="zh-CN" altLang="en-US" sz="2000" dirty="0">
                <a:latin typeface="+mn-ea"/>
              </a:rPr>
              <a:t>探测器几何位置说明如图</a:t>
            </a:r>
            <a:r>
              <a:rPr lang="en-US" altLang="zh-CN" sz="2000" dirty="0">
                <a:latin typeface="+mn-ea"/>
              </a:rPr>
              <a:t>3</a:t>
            </a:r>
            <a:r>
              <a:rPr lang="zh-CN" altLang="en-US" sz="2000" dirty="0">
                <a:latin typeface="+mn-ea"/>
              </a:rPr>
              <a:t>、图</a:t>
            </a:r>
            <a:r>
              <a:rPr lang="en-US" altLang="zh-CN" sz="2000" dirty="0">
                <a:latin typeface="+mn-ea"/>
              </a:rPr>
              <a:t>4</a:t>
            </a:r>
            <a:r>
              <a:rPr lang="zh-CN" altLang="en-US" sz="2000" dirty="0">
                <a:latin typeface="+mn-ea"/>
              </a:rPr>
              <a:t>所示：</a:t>
            </a:r>
            <a:endParaRPr lang="en-US" altLang="zh-CN" sz="2000" dirty="0">
              <a:latin typeface="+mn-ea"/>
            </a:endParaRPr>
          </a:p>
        </p:txBody>
      </p:sp>
      <p:grpSp>
        <p:nvGrpSpPr>
          <p:cNvPr id="1071" name="组合 1070">
            <a:extLst>
              <a:ext uri="{FF2B5EF4-FFF2-40B4-BE49-F238E27FC236}">
                <a16:creationId xmlns:a16="http://schemas.microsoft.com/office/drawing/2014/main" id="{1A249CC3-2789-5C76-A077-84CC1C6FE20B}"/>
              </a:ext>
            </a:extLst>
          </p:cNvPr>
          <p:cNvGrpSpPr/>
          <p:nvPr/>
        </p:nvGrpSpPr>
        <p:grpSpPr>
          <a:xfrm>
            <a:off x="2074788" y="3813972"/>
            <a:ext cx="3003937" cy="2941376"/>
            <a:chOff x="2289238" y="4110314"/>
            <a:chExt cx="3003937" cy="2941376"/>
          </a:xfrm>
        </p:grpSpPr>
        <p:grpSp>
          <p:nvGrpSpPr>
            <p:cNvPr id="1069" name="组合 1068">
              <a:extLst>
                <a:ext uri="{FF2B5EF4-FFF2-40B4-BE49-F238E27FC236}">
                  <a16:creationId xmlns:a16="http://schemas.microsoft.com/office/drawing/2014/main" id="{865CE3E0-1EF4-625E-3270-CC55491F321A}"/>
                </a:ext>
              </a:extLst>
            </p:cNvPr>
            <p:cNvGrpSpPr/>
            <p:nvPr/>
          </p:nvGrpSpPr>
          <p:grpSpPr>
            <a:xfrm>
              <a:off x="2289238" y="4110314"/>
              <a:ext cx="3003937" cy="2941376"/>
              <a:chOff x="2289238" y="4110314"/>
              <a:chExt cx="3003937" cy="2941376"/>
            </a:xfrm>
          </p:grpSpPr>
          <p:grpSp>
            <p:nvGrpSpPr>
              <p:cNvPr id="1034" name="组合 1033">
                <a:extLst>
                  <a:ext uri="{FF2B5EF4-FFF2-40B4-BE49-F238E27FC236}">
                    <a16:creationId xmlns:a16="http://schemas.microsoft.com/office/drawing/2014/main" id="{4C0C4CB8-F4E9-E4CE-88EC-0146E7CDC833}"/>
                  </a:ext>
                </a:extLst>
              </p:cNvPr>
              <p:cNvGrpSpPr/>
              <p:nvPr/>
            </p:nvGrpSpPr>
            <p:grpSpPr>
              <a:xfrm>
                <a:off x="2289238" y="4110314"/>
                <a:ext cx="2824903" cy="2567216"/>
                <a:chOff x="4256617" y="3792231"/>
                <a:chExt cx="2824903" cy="2567216"/>
              </a:xfrm>
            </p:grpSpPr>
            <p:grpSp>
              <p:nvGrpSpPr>
                <p:cNvPr id="115" name="组合 114">
                  <a:extLst>
                    <a:ext uri="{FF2B5EF4-FFF2-40B4-BE49-F238E27FC236}">
                      <a16:creationId xmlns:a16="http://schemas.microsoft.com/office/drawing/2014/main" id="{4E29F865-6B8D-CDBB-4072-AB2FF3B89C08}"/>
                    </a:ext>
                  </a:extLst>
                </p:cNvPr>
                <p:cNvGrpSpPr/>
                <p:nvPr/>
              </p:nvGrpSpPr>
              <p:grpSpPr>
                <a:xfrm>
                  <a:off x="4869873" y="4207625"/>
                  <a:ext cx="2003367" cy="2003367"/>
                  <a:chOff x="2964873" y="4100945"/>
                  <a:chExt cx="4248720" cy="4248720"/>
                </a:xfrm>
              </p:grpSpPr>
              <p:sp>
                <p:nvSpPr>
                  <p:cNvPr id="12" name="矩形 11">
                    <a:extLst>
                      <a:ext uri="{FF2B5EF4-FFF2-40B4-BE49-F238E27FC236}">
                        <a16:creationId xmlns:a16="http://schemas.microsoft.com/office/drawing/2014/main" id="{9E9333D7-4473-8F09-0B7B-4FF2A812024F}"/>
                      </a:ext>
                    </a:extLst>
                  </p:cNvPr>
                  <p:cNvSpPr/>
                  <p:nvPr/>
                </p:nvSpPr>
                <p:spPr>
                  <a:xfrm>
                    <a:off x="2964873" y="410094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" name="矩形 12">
                    <a:extLst>
                      <a:ext uri="{FF2B5EF4-FFF2-40B4-BE49-F238E27FC236}">
                        <a16:creationId xmlns:a16="http://schemas.microsoft.com/office/drawing/2014/main" id="{936DA36F-1044-E6F8-C2DF-3978ABA88F2F}"/>
                      </a:ext>
                    </a:extLst>
                  </p:cNvPr>
                  <p:cNvSpPr/>
                  <p:nvPr/>
                </p:nvSpPr>
                <p:spPr>
                  <a:xfrm>
                    <a:off x="3389745" y="410094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" name="矩形 13">
                    <a:extLst>
                      <a:ext uri="{FF2B5EF4-FFF2-40B4-BE49-F238E27FC236}">
                        <a16:creationId xmlns:a16="http://schemas.microsoft.com/office/drawing/2014/main" id="{EBCBA5BE-ACAF-EDC7-4160-4DD295CE9A8B}"/>
                      </a:ext>
                    </a:extLst>
                  </p:cNvPr>
                  <p:cNvSpPr/>
                  <p:nvPr/>
                </p:nvSpPr>
                <p:spPr>
                  <a:xfrm>
                    <a:off x="3814617" y="410094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E983EDAC-3A55-BB94-EA08-B4CA2A189286}"/>
                      </a:ext>
                    </a:extLst>
                  </p:cNvPr>
                  <p:cNvSpPr/>
                  <p:nvPr/>
                </p:nvSpPr>
                <p:spPr>
                  <a:xfrm>
                    <a:off x="4239489" y="410094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id="{B821B3FE-A016-5618-3D89-FE2E5973BA10}"/>
                      </a:ext>
                    </a:extLst>
                  </p:cNvPr>
                  <p:cNvSpPr/>
                  <p:nvPr/>
                </p:nvSpPr>
                <p:spPr>
                  <a:xfrm>
                    <a:off x="4664361" y="410094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矩形 19">
                    <a:extLst>
                      <a:ext uri="{FF2B5EF4-FFF2-40B4-BE49-F238E27FC236}">
                        <a16:creationId xmlns:a16="http://schemas.microsoft.com/office/drawing/2014/main" id="{EEE62F9D-8AF0-66D6-7F35-7B0E9716A7C0}"/>
                      </a:ext>
                    </a:extLst>
                  </p:cNvPr>
                  <p:cNvSpPr/>
                  <p:nvPr/>
                </p:nvSpPr>
                <p:spPr>
                  <a:xfrm>
                    <a:off x="5089233" y="410094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6C78EA5C-29AE-632E-EA20-8F570812DB91}"/>
                      </a:ext>
                    </a:extLst>
                  </p:cNvPr>
                  <p:cNvSpPr/>
                  <p:nvPr/>
                </p:nvSpPr>
                <p:spPr>
                  <a:xfrm>
                    <a:off x="5514105" y="410094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" name="矩形 21">
                    <a:extLst>
                      <a:ext uri="{FF2B5EF4-FFF2-40B4-BE49-F238E27FC236}">
                        <a16:creationId xmlns:a16="http://schemas.microsoft.com/office/drawing/2014/main" id="{8B2B7239-6F7C-34D1-9227-181F20E518DC}"/>
                      </a:ext>
                    </a:extLst>
                  </p:cNvPr>
                  <p:cNvSpPr/>
                  <p:nvPr/>
                </p:nvSpPr>
                <p:spPr>
                  <a:xfrm>
                    <a:off x="5938977" y="410094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693F5A4E-55C8-5C4E-08B3-A5267EC8B40F}"/>
                      </a:ext>
                    </a:extLst>
                  </p:cNvPr>
                  <p:cNvSpPr/>
                  <p:nvPr/>
                </p:nvSpPr>
                <p:spPr>
                  <a:xfrm>
                    <a:off x="6363849" y="410094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926CBA6B-C497-FA51-F7C2-A99B8CAF6D3E}"/>
                      </a:ext>
                    </a:extLst>
                  </p:cNvPr>
                  <p:cNvSpPr/>
                  <p:nvPr/>
                </p:nvSpPr>
                <p:spPr>
                  <a:xfrm>
                    <a:off x="6788721" y="410094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" name="矩形 24">
                    <a:extLst>
                      <a:ext uri="{FF2B5EF4-FFF2-40B4-BE49-F238E27FC236}">
                        <a16:creationId xmlns:a16="http://schemas.microsoft.com/office/drawing/2014/main" id="{2DA78359-C798-0F69-AAD3-D35D6572D20D}"/>
                      </a:ext>
                    </a:extLst>
                  </p:cNvPr>
                  <p:cNvSpPr/>
                  <p:nvPr/>
                </p:nvSpPr>
                <p:spPr>
                  <a:xfrm>
                    <a:off x="2964873" y="452581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" name="矩形 25">
                    <a:extLst>
                      <a:ext uri="{FF2B5EF4-FFF2-40B4-BE49-F238E27FC236}">
                        <a16:creationId xmlns:a16="http://schemas.microsoft.com/office/drawing/2014/main" id="{55385C74-853F-26CD-9861-45610E174C5A}"/>
                      </a:ext>
                    </a:extLst>
                  </p:cNvPr>
                  <p:cNvSpPr/>
                  <p:nvPr/>
                </p:nvSpPr>
                <p:spPr>
                  <a:xfrm>
                    <a:off x="3389745" y="452581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" name="矩形 26">
                    <a:extLst>
                      <a:ext uri="{FF2B5EF4-FFF2-40B4-BE49-F238E27FC236}">
                        <a16:creationId xmlns:a16="http://schemas.microsoft.com/office/drawing/2014/main" id="{714D2734-5A6D-3489-6945-B96F999C0FE6}"/>
                      </a:ext>
                    </a:extLst>
                  </p:cNvPr>
                  <p:cNvSpPr/>
                  <p:nvPr/>
                </p:nvSpPr>
                <p:spPr>
                  <a:xfrm>
                    <a:off x="3814617" y="452581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" name="矩形 27">
                    <a:extLst>
                      <a:ext uri="{FF2B5EF4-FFF2-40B4-BE49-F238E27FC236}">
                        <a16:creationId xmlns:a16="http://schemas.microsoft.com/office/drawing/2014/main" id="{50CB4DB4-2334-DBA6-964B-C2809848E8E2}"/>
                      </a:ext>
                    </a:extLst>
                  </p:cNvPr>
                  <p:cNvSpPr/>
                  <p:nvPr/>
                </p:nvSpPr>
                <p:spPr>
                  <a:xfrm>
                    <a:off x="4239489" y="452581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9" name="矩形 28">
                    <a:extLst>
                      <a:ext uri="{FF2B5EF4-FFF2-40B4-BE49-F238E27FC236}">
                        <a16:creationId xmlns:a16="http://schemas.microsoft.com/office/drawing/2014/main" id="{3E6E2BEE-E916-268A-EC0A-775B4CA18FAC}"/>
                      </a:ext>
                    </a:extLst>
                  </p:cNvPr>
                  <p:cNvSpPr/>
                  <p:nvPr/>
                </p:nvSpPr>
                <p:spPr>
                  <a:xfrm>
                    <a:off x="4664361" y="452581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" name="矩形 29">
                    <a:extLst>
                      <a:ext uri="{FF2B5EF4-FFF2-40B4-BE49-F238E27FC236}">
                        <a16:creationId xmlns:a16="http://schemas.microsoft.com/office/drawing/2014/main" id="{8B2648B7-A2B3-5F2B-B3F6-6F7840270CD5}"/>
                      </a:ext>
                    </a:extLst>
                  </p:cNvPr>
                  <p:cNvSpPr/>
                  <p:nvPr/>
                </p:nvSpPr>
                <p:spPr>
                  <a:xfrm>
                    <a:off x="5089233" y="452581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" name="矩形 30">
                    <a:extLst>
                      <a:ext uri="{FF2B5EF4-FFF2-40B4-BE49-F238E27FC236}">
                        <a16:creationId xmlns:a16="http://schemas.microsoft.com/office/drawing/2014/main" id="{BF474C65-5CC4-3578-BFEA-015E00D2BBDA}"/>
                      </a:ext>
                    </a:extLst>
                  </p:cNvPr>
                  <p:cNvSpPr/>
                  <p:nvPr/>
                </p:nvSpPr>
                <p:spPr>
                  <a:xfrm>
                    <a:off x="5514105" y="452581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2" name="矩形 31">
                    <a:extLst>
                      <a:ext uri="{FF2B5EF4-FFF2-40B4-BE49-F238E27FC236}">
                        <a16:creationId xmlns:a16="http://schemas.microsoft.com/office/drawing/2014/main" id="{D7D79DF0-4AE5-4FE4-C835-3D3982B18865}"/>
                      </a:ext>
                    </a:extLst>
                  </p:cNvPr>
                  <p:cNvSpPr/>
                  <p:nvPr/>
                </p:nvSpPr>
                <p:spPr>
                  <a:xfrm>
                    <a:off x="5938977" y="452581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" name="矩形 32">
                    <a:extLst>
                      <a:ext uri="{FF2B5EF4-FFF2-40B4-BE49-F238E27FC236}">
                        <a16:creationId xmlns:a16="http://schemas.microsoft.com/office/drawing/2014/main" id="{2BBD0574-3D58-0276-F89F-BA83D1888C74}"/>
                      </a:ext>
                    </a:extLst>
                  </p:cNvPr>
                  <p:cNvSpPr/>
                  <p:nvPr/>
                </p:nvSpPr>
                <p:spPr>
                  <a:xfrm>
                    <a:off x="6363849" y="452581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" name="矩形 33">
                    <a:extLst>
                      <a:ext uri="{FF2B5EF4-FFF2-40B4-BE49-F238E27FC236}">
                        <a16:creationId xmlns:a16="http://schemas.microsoft.com/office/drawing/2014/main" id="{372D7B4F-9E5D-ADEF-5980-7970CC55D5D4}"/>
                      </a:ext>
                    </a:extLst>
                  </p:cNvPr>
                  <p:cNvSpPr/>
                  <p:nvPr/>
                </p:nvSpPr>
                <p:spPr>
                  <a:xfrm>
                    <a:off x="6788721" y="452581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" name="矩形 34">
                    <a:extLst>
                      <a:ext uri="{FF2B5EF4-FFF2-40B4-BE49-F238E27FC236}">
                        <a16:creationId xmlns:a16="http://schemas.microsoft.com/office/drawing/2014/main" id="{AA8756ED-7838-F330-DCEB-6109D8224DF0}"/>
                      </a:ext>
                    </a:extLst>
                  </p:cNvPr>
                  <p:cNvSpPr/>
                  <p:nvPr/>
                </p:nvSpPr>
                <p:spPr>
                  <a:xfrm>
                    <a:off x="2964873" y="495068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" name="矩形 35">
                    <a:extLst>
                      <a:ext uri="{FF2B5EF4-FFF2-40B4-BE49-F238E27FC236}">
                        <a16:creationId xmlns:a16="http://schemas.microsoft.com/office/drawing/2014/main" id="{59AA3F0C-E8E1-01FA-EC21-854E4E5AADBA}"/>
                      </a:ext>
                    </a:extLst>
                  </p:cNvPr>
                  <p:cNvSpPr/>
                  <p:nvPr/>
                </p:nvSpPr>
                <p:spPr>
                  <a:xfrm>
                    <a:off x="3389745" y="495068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7" name="矩形 36">
                    <a:extLst>
                      <a:ext uri="{FF2B5EF4-FFF2-40B4-BE49-F238E27FC236}">
                        <a16:creationId xmlns:a16="http://schemas.microsoft.com/office/drawing/2014/main" id="{3231F1AD-90C4-59E2-55CF-F3FFB6F3A55D}"/>
                      </a:ext>
                    </a:extLst>
                  </p:cNvPr>
                  <p:cNvSpPr/>
                  <p:nvPr/>
                </p:nvSpPr>
                <p:spPr>
                  <a:xfrm>
                    <a:off x="3814617" y="495068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8" name="矩形 37">
                    <a:extLst>
                      <a:ext uri="{FF2B5EF4-FFF2-40B4-BE49-F238E27FC236}">
                        <a16:creationId xmlns:a16="http://schemas.microsoft.com/office/drawing/2014/main" id="{5387561D-E98C-840E-6B3F-1585814A2358}"/>
                      </a:ext>
                    </a:extLst>
                  </p:cNvPr>
                  <p:cNvSpPr/>
                  <p:nvPr/>
                </p:nvSpPr>
                <p:spPr>
                  <a:xfrm>
                    <a:off x="4239489" y="495068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" name="矩形 38">
                    <a:extLst>
                      <a:ext uri="{FF2B5EF4-FFF2-40B4-BE49-F238E27FC236}">
                        <a16:creationId xmlns:a16="http://schemas.microsoft.com/office/drawing/2014/main" id="{894F824F-EEC6-516D-0C68-028C953BADE7}"/>
                      </a:ext>
                    </a:extLst>
                  </p:cNvPr>
                  <p:cNvSpPr/>
                  <p:nvPr/>
                </p:nvSpPr>
                <p:spPr>
                  <a:xfrm>
                    <a:off x="4664361" y="495068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" name="矩形 39">
                    <a:extLst>
                      <a:ext uri="{FF2B5EF4-FFF2-40B4-BE49-F238E27FC236}">
                        <a16:creationId xmlns:a16="http://schemas.microsoft.com/office/drawing/2014/main" id="{A789E9B8-E674-7EF6-1234-0E7B7F8DE6AE}"/>
                      </a:ext>
                    </a:extLst>
                  </p:cNvPr>
                  <p:cNvSpPr/>
                  <p:nvPr/>
                </p:nvSpPr>
                <p:spPr>
                  <a:xfrm>
                    <a:off x="5089233" y="495068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" name="矩形 40">
                    <a:extLst>
                      <a:ext uri="{FF2B5EF4-FFF2-40B4-BE49-F238E27FC236}">
                        <a16:creationId xmlns:a16="http://schemas.microsoft.com/office/drawing/2014/main" id="{88E16FB0-4791-68F3-1D1A-A335BAA204C4}"/>
                      </a:ext>
                    </a:extLst>
                  </p:cNvPr>
                  <p:cNvSpPr/>
                  <p:nvPr/>
                </p:nvSpPr>
                <p:spPr>
                  <a:xfrm>
                    <a:off x="5514105" y="495068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" name="矩形 41">
                    <a:extLst>
                      <a:ext uri="{FF2B5EF4-FFF2-40B4-BE49-F238E27FC236}">
                        <a16:creationId xmlns:a16="http://schemas.microsoft.com/office/drawing/2014/main" id="{5B57D3A1-A6F1-7F51-2549-AB3412F49FF1}"/>
                      </a:ext>
                    </a:extLst>
                  </p:cNvPr>
                  <p:cNvSpPr/>
                  <p:nvPr/>
                </p:nvSpPr>
                <p:spPr>
                  <a:xfrm>
                    <a:off x="5938977" y="495068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" name="矩形 42">
                    <a:extLst>
                      <a:ext uri="{FF2B5EF4-FFF2-40B4-BE49-F238E27FC236}">
                        <a16:creationId xmlns:a16="http://schemas.microsoft.com/office/drawing/2014/main" id="{CB87D090-7DB6-99BB-22B5-4433E7258A3B}"/>
                      </a:ext>
                    </a:extLst>
                  </p:cNvPr>
                  <p:cNvSpPr/>
                  <p:nvPr/>
                </p:nvSpPr>
                <p:spPr>
                  <a:xfrm>
                    <a:off x="6363849" y="495068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" name="矩形 43">
                    <a:extLst>
                      <a:ext uri="{FF2B5EF4-FFF2-40B4-BE49-F238E27FC236}">
                        <a16:creationId xmlns:a16="http://schemas.microsoft.com/office/drawing/2014/main" id="{4BE7CB8B-7DF4-AC4C-BE76-3D64676D05E2}"/>
                      </a:ext>
                    </a:extLst>
                  </p:cNvPr>
                  <p:cNvSpPr/>
                  <p:nvPr/>
                </p:nvSpPr>
                <p:spPr>
                  <a:xfrm>
                    <a:off x="6788721" y="495068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" name="矩形 44">
                    <a:extLst>
                      <a:ext uri="{FF2B5EF4-FFF2-40B4-BE49-F238E27FC236}">
                        <a16:creationId xmlns:a16="http://schemas.microsoft.com/office/drawing/2014/main" id="{B7D03CE4-7A81-E704-72C2-6C817ADBF5D9}"/>
                      </a:ext>
                    </a:extLst>
                  </p:cNvPr>
                  <p:cNvSpPr/>
                  <p:nvPr/>
                </p:nvSpPr>
                <p:spPr>
                  <a:xfrm>
                    <a:off x="2964873" y="537556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" name="矩形 45">
                    <a:extLst>
                      <a:ext uri="{FF2B5EF4-FFF2-40B4-BE49-F238E27FC236}">
                        <a16:creationId xmlns:a16="http://schemas.microsoft.com/office/drawing/2014/main" id="{09176A7D-B412-BE25-AB95-35AD5CE80B3D}"/>
                      </a:ext>
                    </a:extLst>
                  </p:cNvPr>
                  <p:cNvSpPr/>
                  <p:nvPr/>
                </p:nvSpPr>
                <p:spPr>
                  <a:xfrm>
                    <a:off x="3389745" y="537556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" name="矩形 46">
                    <a:extLst>
                      <a:ext uri="{FF2B5EF4-FFF2-40B4-BE49-F238E27FC236}">
                        <a16:creationId xmlns:a16="http://schemas.microsoft.com/office/drawing/2014/main" id="{1993545A-CD55-736B-F494-92C64CB283C2}"/>
                      </a:ext>
                    </a:extLst>
                  </p:cNvPr>
                  <p:cNvSpPr/>
                  <p:nvPr/>
                </p:nvSpPr>
                <p:spPr>
                  <a:xfrm>
                    <a:off x="3814617" y="537556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" name="矩形 47">
                    <a:extLst>
                      <a:ext uri="{FF2B5EF4-FFF2-40B4-BE49-F238E27FC236}">
                        <a16:creationId xmlns:a16="http://schemas.microsoft.com/office/drawing/2014/main" id="{8045FE8A-CE8B-A545-403E-68CA93B53700}"/>
                      </a:ext>
                    </a:extLst>
                  </p:cNvPr>
                  <p:cNvSpPr/>
                  <p:nvPr/>
                </p:nvSpPr>
                <p:spPr>
                  <a:xfrm>
                    <a:off x="4239489" y="537556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" name="矩形 48">
                    <a:extLst>
                      <a:ext uri="{FF2B5EF4-FFF2-40B4-BE49-F238E27FC236}">
                        <a16:creationId xmlns:a16="http://schemas.microsoft.com/office/drawing/2014/main" id="{733A38E6-3A3A-9ADC-436E-26FA70322F4B}"/>
                      </a:ext>
                    </a:extLst>
                  </p:cNvPr>
                  <p:cNvSpPr/>
                  <p:nvPr/>
                </p:nvSpPr>
                <p:spPr>
                  <a:xfrm>
                    <a:off x="4664361" y="537556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" name="矩形 49">
                    <a:extLst>
                      <a:ext uri="{FF2B5EF4-FFF2-40B4-BE49-F238E27FC236}">
                        <a16:creationId xmlns:a16="http://schemas.microsoft.com/office/drawing/2014/main" id="{4AC96973-9D92-82A4-C6F8-23FE8F538DA4}"/>
                      </a:ext>
                    </a:extLst>
                  </p:cNvPr>
                  <p:cNvSpPr/>
                  <p:nvPr/>
                </p:nvSpPr>
                <p:spPr>
                  <a:xfrm>
                    <a:off x="5089233" y="537556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" name="矩形 50">
                    <a:extLst>
                      <a:ext uri="{FF2B5EF4-FFF2-40B4-BE49-F238E27FC236}">
                        <a16:creationId xmlns:a16="http://schemas.microsoft.com/office/drawing/2014/main" id="{FF62944B-76B8-8339-ADCF-0CC267E74B07}"/>
                      </a:ext>
                    </a:extLst>
                  </p:cNvPr>
                  <p:cNvSpPr/>
                  <p:nvPr/>
                </p:nvSpPr>
                <p:spPr>
                  <a:xfrm>
                    <a:off x="5514105" y="537556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" name="矩形 51">
                    <a:extLst>
                      <a:ext uri="{FF2B5EF4-FFF2-40B4-BE49-F238E27FC236}">
                        <a16:creationId xmlns:a16="http://schemas.microsoft.com/office/drawing/2014/main" id="{3ECF318F-A9A4-D4B1-F9A2-DDED8031898A}"/>
                      </a:ext>
                    </a:extLst>
                  </p:cNvPr>
                  <p:cNvSpPr/>
                  <p:nvPr/>
                </p:nvSpPr>
                <p:spPr>
                  <a:xfrm>
                    <a:off x="5938977" y="537556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" name="矩形 52">
                    <a:extLst>
                      <a:ext uri="{FF2B5EF4-FFF2-40B4-BE49-F238E27FC236}">
                        <a16:creationId xmlns:a16="http://schemas.microsoft.com/office/drawing/2014/main" id="{3CAC3BC4-CF3D-F3EA-B136-D41994636EF4}"/>
                      </a:ext>
                    </a:extLst>
                  </p:cNvPr>
                  <p:cNvSpPr/>
                  <p:nvPr/>
                </p:nvSpPr>
                <p:spPr>
                  <a:xfrm>
                    <a:off x="6363849" y="537556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" name="矩形 53">
                    <a:extLst>
                      <a:ext uri="{FF2B5EF4-FFF2-40B4-BE49-F238E27FC236}">
                        <a16:creationId xmlns:a16="http://schemas.microsoft.com/office/drawing/2014/main" id="{2F791E06-C391-6D8C-E058-06F6E6F03C70}"/>
                      </a:ext>
                    </a:extLst>
                  </p:cNvPr>
                  <p:cNvSpPr/>
                  <p:nvPr/>
                </p:nvSpPr>
                <p:spPr>
                  <a:xfrm>
                    <a:off x="6788721" y="537556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" name="矩形 54">
                    <a:extLst>
                      <a:ext uri="{FF2B5EF4-FFF2-40B4-BE49-F238E27FC236}">
                        <a16:creationId xmlns:a16="http://schemas.microsoft.com/office/drawing/2014/main" id="{CFD2A713-263E-3530-1CD1-BEA1C257B473}"/>
                      </a:ext>
                    </a:extLst>
                  </p:cNvPr>
                  <p:cNvSpPr/>
                  <p:nvPr/>
                </p:nvSpPr>
                <p:spPr>
                  <a:xfrm>
                    <a:off x="2964873" y="580043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" name="矩形 55">
                    <a:extLst>
                      <a:ext uri="{FF2B5EF4-FFF2-40B4-BE49-F238E27FC236}">
                        <a16:creationId xmlns:a16="http://schemas.microsoft.com/office/drawing/2014/main" id="{FDD8954A-3AC0-6C71-6295-C2159F8042DD}"/>
                      </a:ext>
                    </a:extLst>
                  </p:cNvPr>
                  <p:cNvSpPr/>
                  <p:nvPr/>
                </p:nvSpPr>
                <p:spPr>
                  <a:xfrm>
                    <a:off x="3389745" y="580043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" name="矩形 56">
                    <a:extLst>
                      <a:ext uri="{FF2B5EF4-FFF2-40B4-BE49-F238E27FC236}">
                        <a16:creationId xmlns:a16="http://schemas.microsoft.com/office/drawing/2014/main" id="{B8F6CEBF-9759-3A12-538E-8BF07F091A0F}"/>
                      </a:ext>
                    </a:extLst>
                  </p:cNvPr>
                  <p:cNvSpPr/>
                  <p:nvPr/>
                </p:nvSpPr>
                <p:spPr>
                  <a:xfrm>
                    <a:off x="3814617" y="580043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" name="矩形 57">
                    <a:extLst>
                      <a:ext uri="{FF2B5EF4-FFF2-40B4-BE49-F238E27FC236}">
                        <a16:creationId xmlns:a16="http://schemas.microsoft.com/office/drawing/2014/main" id="{851D3747-7827-A787-667B-7173174AA9DC}"/>
                      </a:ext>
                    </a:extLst>
                  </p:cNvPr>
                  <p:cNvSpPr/>
                  <p:nvPr/>
                </p:nvSpPr>
                <p:spPr>
                  <a:xfrm>
                    <a:off x="4239489" y="580043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" name="矩形 58">
                    <a:extLst>
                      <a:ext uri="{FF2B5EF4-FFF2-40B4-BE49-F238E27FC236}">
                        <a16:creationId xmlns:a16="http://schemas.microsoft.com/office/drawing/2014/main" id="{A1232A0B-B614-2229-3CEA-E5046C3A1FE1}"/>
                      </a:ext>
                    </a:extLst>
                  </p:cNvPr>
                  <p:cNvSpPr/>
                  <p:nvPr/>
                </p:nvSpPr>
                <p:spPr>
                  <a:xfrm>
                    <a:off x="4664361" y="580043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" name="矩形 59">
                    <a:extLst>
                      <a:ext uri="{FF2B5EF4-FFF2-40B4-BE49-F238E27FC236}">
                        <a16:creationId xmlns:a16="http://schemas.microsoft.com/office/drawing/2014/main" id="{2E67CDAA-4C1E-E345-11EA-68C1C9421324}"/>
                      </a:ext>
                    </a:extLst>
                  </p:cNvPr>
                  <p:cNvSpPr/>
                  <p:nvPr/>
                </p:nvSpPr>
                <p:spPr>
                  <a:xfrm>
                    <a:off x="5089233" y="580043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" name="矩形 60">
                    <a:extLst>
                      <a:ext uri="{FF2B5EF4-FFF2-40B4-BE49-F238E27FC236}">
                        <a16:creationId xmlns:a16="http://schemas.microsoft.com/office/drawing/2014/main" id="{E8345692-516F-D04E-F1FD-16488FDF6F1C}"/>
                      </a:ext>
                    </a:extLst>
                  </p:cNvPr>
                  <p:cNvSpPr/>
                  <p:nvPr/>
                </p:nvSpPr>
                <p:spPr>
                  <a:xfrm>
                    <a:off x="5514105" y="580043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" name="矩形 61">
                    <a:extLst>
                      <a:ext uri="{FF2B5EF4-FFF2-40B4-BE49-F238E27FC236}">
                        <a16:creationId xmlns:a16="http://schemas.microsoft.com/office/drawing/2014/main" id="{DC780973-3D16-CB32-41E1-3ACBA6F8DD58}"/>
                      </a:ext>
                    </a:extLst>
                  </p:cNvPr>
                  <p:cNvSpPr/>
                  <p:nvPr/>
                </p:nvSpPr>
                <p:spPr>
                  <a:xfrm>
                    <a:off x="5938977" y="580043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" name="矩形 62">
                    <a:extLst>
                      <a:ext uri="{FF2B5EF4-FFF2-40B4-BE49-F238E27FC236}">
                        <a16:creationId xmlns:a16="http://schemas.microsoft.com/office/drawing/2014/main" id="{322CAF88-B8E9-0755-93AD-E9F5677F91F8}"/>
                      </a:ext>
                    </a:extLst>
                  </p:cNvPr>
                  <p:cNvSpPr/>
                  <p:nvPr/>
                </p:nvSpPr>
                <p:spPr>
                  <a:xfrm>
                    <a:off x="6363849" y="580043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" name="矩形 63">
                    <a:extLst>
                      <a:ext uri="{FF2B5EF4-FFF2-40B4-BE49-F238E27FC236}">
                        <a16:creationId xmlns:a16="http://schemas.microsoft.com/office/drawing/2014/main" id="{F7AB35E5-70DD-E2E2-5077-A4C8EA33C831}"/>
                      </a:ext>
                    </a:extLst>
                  </p:cNvPr>
                  <p:cNvSpPr/>
                  <p:nvPr/>
                </p:nvSpPr>
                <p:spPr>
                  <a:xfrm>
                    <a:off x="6788721" y="580043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" name="矩形 64">
                    <a:extLst>
                      <a:ext uri="{FF2B5EF4-FFF2-40B4-BE49-F238E27FC236}">
                        <a16:creationId xmlns:a16="http://schemas.microsoft.com/office/drawing/2014/main" id="{4EBB07F1-318C-335F-5A2B-99A6B09F0C72}"/>
                      </a:ext>
                    </a:extLst>
                  </p:cNvPr>
                  <p:cNvSpPr/>
                  <p:nvPr/>
                </p:nvSpPr>
                <p:spPr>
                  <a:xfrm>
                    <a:off x="2964873" y="622530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" name="矩形 65">
                    <a:extLst>
                      <a:ext uri="{FF2B5EF4-FFF2-40B4-BE49-F238E27FC236}">
                        <a16:creationId xmlns:a16="http://schemas.microsoft.com/office/drawing/2014/main" id="{D4AC4645-DD80-9190-381B-6CAA8B3C1631}"/>
                      </a:ext>
                    </a:extLst>
                  </p:cNvPr>
                  <p:cNvSpPr/>
                  <p:nvPr/>
                </p:nvSpPr>
                <p:spPr>
                  <a:xfrm>
                    <a:off x="3389745" y="622530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" name="矩形 66">
                    <a:extLst>
                      <a:ext uri="{FF2B5EF4-FFF2-40B4-BE49-F238E27FC236}">
                        <a16:creationId xmlns:a16="http://schemas.microsoft.com/office/drawing/2014/main" id="{E765AC2A-4711-3C69-087B-17622705D592}"/>
                      </a:ext>
                    </a:extLst>
                  </p:cNvPr>
                  <p:cNvSpPr/>
                  <p:nvPr/>
                </p:nvSpPr>
                <p:spPr>
                  <a:xfrm>
                    <a:off x="3814617" y="622530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" name="矩形 67">
                    <a:extLst>
                      <a:ext uri="{FF2B5EF4-FFF2-40B4-BE49-F238E27FC236}">
                        <a16:creationId xmlns:a16="http://schemas.microsoft.com/office/drawing/2014/main" id="{3C2781D4-59EF-5C61-1FD9-5FC776820D6B}"/>
                      </a:ext>
                    </a:extLst>
                  </p:cNvPr>
                  <p:cNvSpPr/>
                  <p:nvPr/>
                </p:nvSpPr>
                <p:spPr>
                  <a:xfrm>
                    <a:off x="4239489" y="622530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" name="矩形 68">
                    <a:extLst>
                      <a:ext uri="{FF2B5EF4-FFF2-40B4-BE49-F238E27FC236}">
                        <a16:creationId xmlns:a16="http://schemas.microsoft.com/office/drawing/2014/main" id="{B9B046A9-9913-93F3-5516-21D7B029F702}"/>
                      </a:ext>
                    </a:extLst>
                  </p:cNvPr>
                  <p:cNvSpPr/>
                  <p:nvPr/>
                </p:nvSpPr>
                <p:spPr>
                  <a:xfrm>
                    <a:off x="4664361" y="622530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" name="矩形 69">
                    <a:extLst>
                      <a:ext uri="{FF2B5EF4-FFF2-40B4-BE49-F238E27FC236}">
                        <a16:creationId xmlns:a16="http://schemas.microsoft.com/office/drawing/2014/main" id="{17E5113D-6A25-A169-FF39-CB511EEE8A62}"/>
                      </a:ext>
                    </a:extLst>
                  </p:cNvPr>
                  <p:cNvSpPr/>
                  <p:nvPr/>
                </p:nvSpPr>
                <p:spPr>
                  <a:xfrm>
                    <a:off x="5089233" y="622530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" name="矩形 70">
                    <a:extLst>
                      <a:ext uri="{FF2B5EF4-FFF2-40B4-BE49-F238E27FC236}">
                        <a16:creationId xmlns:a16="http://schemas.microsoft.com/office/drawing/2014/main" id="{B969332B-7149-55D7-32CA-57409977337D}"/>
                      </a:ext>
                    </a:extLst>
                  </p:cNvPr>
                  <p:cNvSpPr/>
                  <p:nvPr/>
                </p:nvSpPr>
                <p:spPr>
                  <a:xfrm>
                    <a:off x="5514105" y="622530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" name="矩形 71">
                    <a:extLst>
                      <a:ext uri="{FF2B5EF4-FFF2-40B4-BE49-F238E27FC236}">
                        <a16:creationId xmlns:a16="http://schemas.microsoft.com/office/drawing/2014/main" id="{38D7ACAC-FDAF-8204-C0FA-A5577F1A91D7}"/>
                      </a:ext>
                    </a:extLst>
                  </p:cNvPr>
                  <p:cNvSpPr/>
                  <p:nvPr/>
                </p:nvSpPr>
                <p:spPr>
                  <a:xfrm>
                    <a:off x="5938977" y="622530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" name="矩形 72">
                    <a:extLst>
                      <a:ext uri="{FF2B5EF4-FFF2-40B4-BE49-F238E27FC236}">
                        <a16:creationId xmlns:a16="http://schemas.microsoft.com/office/drawing/2014/main" id="{34052E82-2838-BA49-8656-55DEE2FA070A}"/>
                      </a:ext>
                    </a:extLst>
                  </p:cNvPr>
                  <p:cNvSpPr/>
                  <p:nvPr/>
                </p:nvSpPr>
                <p:spPr>
                  <a:xfrm>
                    <a:off x="6363849" y="622530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" name="矩形 73">
                    <a:extLst>
                      <a:ext uri="{FF2B5EF4-FFF2-40B4-BE49-F238E27FC236}">
                        <a16:creationId xmlns:a16="http://schemas.microsoft.com/office/drawing/2014/main" id="{A50893DF-D0B7-7998-1048-7E7323367CC6}"/>
                      </a:ext>
                    </a:extLst>
                  </p:cNvPr>
                  <p:cNvSpPr/>
                  <p:nvPr/>
                </p:nvSpPr>
                <p:spPr>
                  <a:xfrm>
                    <a:off x="6788721" y="6225305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" name="矩形 74">
                    <a:extLst>
                      <a:ext uri="{FF2B5EF4-FFF2-40B4-BE49-F238E27FC236}">
                        <a16:creationId xmlns:a16="http://schemas.microsoft.com/office/drawing/2014/main" id="{D26A3F71-1E84-5A25-BE96-D6B5C2F505CA}"/>
                      </a:ext>
                    </a:extLst>
                  </p:cNvPr>
                  <p:cNvSpPr/>
                  <p:nvPr/>
                </p:nvSpPr>
                <p:spPr>
                  <a:xfrm>
                    <a:off x="2964873" y="665017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" name="矩形 75">
                    <a:extLst>
                      <a:ext uri="{FF2B5EF4-FFF2-40B4-BE49-F238E27FC236}">
                        <a16:creationId xmlns:a16="http://schemas.microsoft.com/office/drawing/2014/main" id="{60EA33EC-0548-853C-6CD2-EBA2EEA8D788}"/>
                      </a:ext>
                    </a:extLst>
                  </p:cNvPr>
                  <p:cNvSpPr/>
                  <p:nvPr/>
                </p:nvSpPr>
                <p:spPr>
                  <a:xfrm>
                    <a:off x="3389745" y="665017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" name="矩形 76">
                    <a:extLst>
                      <a:ext uri="{FF2B5EF4-FFF2-40B4-BE49-F238E27FC236}">
                        <a16:creationId xmlns:a16="http://schemas.microsoft.com/office/drawing/2014/main" id="{F0F2BC43-E1F7-ABEC-85AB-0089CA738AD1}"/>
                      </a:ext>
                    </a:extLst>
                  </p:cNvPr>
                  <p:cNvSpPr/>
                  <p:nvPr/>
                </p:nvSpPr>
                <p:spPr>
                  <a:xfrm>
                    <a:off x="3814617" y="665017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" name="矩形 77">
                    <a:extLst>
                      <a:ext uri="{FF2B5EF4-FFF2-40B4-BE49-F238E27FC236}">
                        <a16:creationId xmlns:a16="http://schemas.microsoft.com/office/drawing/2014/main" id="{4B602B13-9A97-4563-3CB0-0AF72E25AF4B}"/>
                      </a:ext>
                    </a:extLst>
                  </p:cNvPr>
                  <p:cNvSpPr/>
                  <p:nvPr/>
                </p:nvSpPr>
                <p:spPr>
                  <a:xfrm>
                    <a:off x="4239489" y="665017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" name="矩形 78">
                    <a:extLst>
                      <a:ext uri="{FF2B5EF4-FFF2-40B4-BE49-F238E27FC236}">
                        <a16:creationId xmlns:a16="http://schemas.microsoft.com/office/drawing/2014/main" id="{F78BF112-56E5-FFD2-9855-07FB2C045FC1}"/>
                      </a:ext>
                    </a:extLst>
                  </p:cNvPr>
                  <p:cNvSpPr/>
                  <p:nvPr/>
                </p:nvSpPr>
                <p:spPr>
                  <a:xfrm>
                    <a:off x="4664361" y="665017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" name="矩形 79">
                    <a:extLst>
                      <a:ext uri="{FF2B5EF4-FFF2-40B4-BE49-F238E27FC236}">
                        <a16:creationId xmlns:a16="http://schemas.microsoft.com/office/drawing/2014/main" id="{0E2A7E9C-76BD-0F8F-F991-224313A661CE}"/>
                      </a:ext>
                    </a:extLst>
                  </p:cNvPr>
                  <p:cNvSpPr/>
                  <p:nvPr/>
                </p:nvSpPr>
                <p:spPr>
                  <a:xfrm>
                    <a:off x="5089233" y="665017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" name="矩形 80">
                    <a:extLst>
                      <a:ext uri="{FF2B5EF4-FFF2-40B4-BE49-F238E27FC236}">
                        <a16:creationId xmlns:a16="http://schemas.microsoft.com/office/drawing/2014/main" id="{B19D49BA-6329-CB27-10CB-473CAA6D9608}"/>
                      </a:ext>
                    </a:extLst>
                  </p:cNvPr>
                  <p:cNvSpPr/>
                  <p:nvPr/>
                </p:nvSpPr>
                <p:spPr>
                  <a:xfrm>
                    <a:off x="5514105" y="665017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" name="矩形 81">
                    <a:extLst>
                      <a:ext uri="{FF2B5EF4-FFF2-40B4-BE49-F238E27FC236}">
                        <a16:creationId xmlns:a16="http://schemas.microsoft.com/office/drawing/2014/main" id="{37CE9EE0-8FE7-6D79-09E9-56B7A061C9D2}"/>
                      </a:ext>
                    </a:extLst>
                  </p:cNvPr>
                  <p:cNvSpPr/>
                  <p:nvPr/>
                </p:nvSpPr>
                <p:spPr>
                  <a:xfrm>
                    <a:off x="5938977" y="665017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" name="矩形 82">
                    <a:extLst>
                      <a:ext uri="{FF2B5EF4-FFF2-40B4-BE49-F238E27FC236}">
                        <a16:creationId xmlns:a16="http://schemas.microsoft.com/office/drawing/2014/main" id="{6A36C3E9-3D1B-4A7A-50E7-A472F5D1F0EC}"/>
                      </a:ext>
                    </a:extLst>
                  </p:cNvPr>
                  <p:cNvSpPr/>
                  <p:nvPr/>
                </p:nvSpPr>
                <p:spPr>
                  <a:xfrm>
                    <a:off x="6363849" y="665017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" name="矩形 83">
                    <a:extLst>
                      <a:ext uri="{FF2B5EF4-FFF2-40B4-BE49-F238E27FC236}">
                        <a16:creationId xmlns:a16="http://schemas.microsoft.com/office/drawing/2014/main" id="{677CA3A0-8214-E8E4-7C17-B2BDC07F87C9}"/>
                      </a:ext>
                    </a:extLst>
                  </p:cNvPr>
                  <p:cNvSpPr/>
                  <p:nvPr/>
                </p:nvSpPr>
                <p:spPr>
                  <a:xfrm>
                    <a:off x="6788721" y="6650177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5" name="矩形 84">
                    <a:extLst>
                      <a:ext uri="{FF2B5EF4-FFF2-40B4-BE49-F238E27FC236}">
                        <a16:creationId xmlns:a16="http://schemas.microsoft.com/office/drawing/2014/main" id="{E860A413-6B71-7E1E-6BA0-44CEA5CB9C49}"/>
                      </a:ext>
                    </a:extLst>
                  </p:cNvPr>
                  <p:cNvSpPr/>
                  <p:nvPr/>
                </p:nvSpPr>
                <p:spPr>
                  <a:xfrm>
                    <a:off x="2964873" y="707504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6" name="矩形 85">
                    <a:extLst>
                      <a:ext uri="{FF2B5EF4-FFF2-40B4-BE49-F238E27FC236}">
                        <a16:creationId xmlns:a16="http://schemas.microsoft.com/office/drawing/2014/main" id="{866A7C61-3166-A6E4-53CC-A84D72630DB6}"/>
                      </a:ext>
                    </a:extLst>
                  </p:cNvPr>
                  <p:cNvSpPr/>
                  <p:nvPr/>
                </p:nvSpPr>
                <p:spPr>
                  <a:xfrm>
                    <a:off x="3389745" y="707504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7" name="矩形 86">
                    <a:extLst>
                      <a:ext uri="{FF2B5EF4-FFF2-40B4-BE49-F238E27FC236}">
                        <a16:creationId xmlns:a16="http://schemas.microsoft.com/office/drawing/2014/main" id="{F1E98EFB-C477-5329-D3B2-C92141BF9DC4}"/>
                      </a:ext>
                    </a:extLst>
                  </p:cNvPr>
                  <p:cNvSpPr/>
                  <p:nvPr/>
                </p:nvSpPr>
                <p:spPr>
                  <a:xfrm>
                    <a:off x="3814617" y="707504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8" name="矩形 87">
                    <a:extLst>
                      <a:ext uri="{FF2B5EF4-FFF2-40B4-BE49-F238E27FC236}">
                        <a16:creationId xmlns:a16="http://schemas.microsoft.com/office/drawing/2014/main" id="{455764AF-156B-EA77-FF46-65E267EACE52}"/>
                      </a:ext>
                    </a:extLst>
                  </p:cNvPr>
                  <p:cNvSpPr/>
                  <p:nvPr/>
                </p:nvSpPr>
                <p:spPr>
                  <a:xfrm>
                    <a:off x="4239489" y="707504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9" name="矩形 88">
                    <a:extLst>
                      <a:ext uri="{FF2B5EF4-FFF2-40B4-BE49-F238E27FC236}">
                        <a16:creationId xmlns:a16="http://schemas.microsoft.com/office/drawing/2014/main" id="{FA45EFBF-EF8B-1403-1EAE-445A3A987556}"/>
                      </a:ext>
                    </a:extLst>
                  </p:cNvPr>
                  <p:cNvSpPr/>
                  <p:nvPr/>
                </p:nvSpPr>
                <p:spPr>
                  <a:xfrm>
                    <a:off x="4664361" y="707504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0" name="矩形 89">
                    <a:extLst>
                      <a:ext uri="{FF2B5EF4-FFF2-40B4-BE49-F238E27FC236}">
                        <a16:creationId xmlns:a16="http://schemas.microsoft.com/office/drawing/2014/main" id="{41BFF43E-2687-81D3-A836-80C4D6144659}"/>
                      </a:ext>
                    </a:extLst>
                  </p:cNvPr>
                  <p:cNvSpPr/>
                  <p:nvPr/>
                </p:nvSpPr>
                <p:spPr>
                  <a:xfrm>
                    <a:off x="5089233" y="707504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1" name="矩形 90">
                    <a:extLst>
                      <a:ext uri="{FF2B5EF4-FFF2-40B4-BE49-F238E27FC236}">
                        <a16:creationId xmlns:a16="http://schemas.microsoft.com/office/drawing/2014/main" id="{1970087C-550F-7454-3537-E071F0E71C6F}"/>
                      </a:ext>
                    </a:extLst>
                  </p:cNvPr>
                  <p:cNvSpPr/>
                  <p:nvPr/>
                </p:nvSpPr>
                <p:spPr>
                  <a:xfrm>
                    <a:off x="5514105" y="707504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2" name="矩形 91">
                    <a:extLst>
                      <a:ext uri="{FF2B5EF4-FFF2-40B4-BE49-F238E27FC236}">
                        <a16:creationId xmlns:a16="http://schemas.microsoft.com/office/drawing/2014/main" id="{055D8E85-9E72-BD94-3457-1C41CFF3C55D}"/>
                      </a:ext>
                    </a:extLst>
                  </p:cNvPr>
                  <p:cNvSpPr/>
                  <p:nvPr/>
                </p:nvSpPr>
                <p:spPr>
                  <a:xfrm>
                    <a:off x="5938977" y="707504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3" name="矩形 92">
                    <a:extLst>
                      <a:ext uri="{FF2B5EF4-FFF2-40B4-BE49-F238E27FC236}">
                        <a16:creationId xmlns:a16="http://schemas.microsoft.com/office/drawing/2014/main" id="{8370EE24-16C3-214D-2E74-2E8B8B53F267}"/>
                      </a:ext>
                    </a:extLst>
                  </p:cNvPr>
                  <p:cNvSpPr/>
                  <p:nvPr/>
                </p:nvSpPr>
                <p:spPr>
                  <a:xfrm>
                    <a:off x="6363849" y="707504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4" name="矩形 93">
                    <a:extLst>
                      <a:ext uri="{FF2B5EF4-FFF2-40B4-BE49-F238E27FC236}">
                        <a16:creationId xmlns:a16="http://schemas.microsoft.com/office/drawing/2014/main" id="{AF8B6F31-1C96-015B-AA87-7EC170CA07A0}"/>
                      </a:ext>
                    </a:extLst>
                  </p:cNvPr>
                  <p:cNvSpPr/>
                  <p:nvPr/>
                </p:nvSpPr>
                <p:spPr>
                  <a:xfrm>
                    <a:off x="6788721" y="7075049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5" name="矩形 94">
                    <a:extLst>
                      <a:ext uri="{FF2B5EF4-FFF2-40B4-BE49-F238E27FC236}">
                        <a16:creationId xmlns:a16="http://schemas.microsoft.com/office/drawing/2014/main" id="{CC671D37-9089-8D50-A29D-BE2839D518B2}"/>
                      </a:ext>
                    </a:extLst>
                  </p:cNvPr>
                  <p:cNvSpPr/>
                  <p:nvPr/>
                </p:nvSpPr>
                <p:spPr>
                  <a:xfrm>
                    <a:off x="2964873" y="749992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6" name="矩形 95">
                    <a:extLst>
                      <a:ext uri="{FF2B5EF4-FFF2-40B4-BE49-F238E27FC236}">
                        <a16:creationId xmlns:a16="http://schemas.microsoft.com/office/drawing/2014/main" id="{7653E5C3-33CA-7F8E-E618-BED114C96995}"/>
                      </a:ext>
                    </a:extLst>
                  </p:cNvPr>
                  <p:cNvSpPr/>
                  <p:nvPr/>
                </p:nvSpPr>
                <p:spPr>
                  <a:xfrm>
                    <a:off x="3389745" y="749992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7" name="矩形 96">
                    <a:extLst>
                      <a:ext uri="{FF2B5EF4-FFF2-40B4-BE49-F238E27FC236}">
                        <a16:creationId xmlns:a16="http://schemas.microsoft.com/office/drawing/2014/main" id="{566CD271-A7B1-55B8-FA19-E0F323D01744}"/>
                      </a:ext>
                    </a:extLst>
                  </p:cNvPr>
                  <p:cNvSpPr/>
                  <p:nvPr/>
                </p:nvSpPr>
                <p:spPr>
                  <a:xfrm>
                    <a:off x="3814617" y="749992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8" name="矩形 97">
                    <a:extLst>
                      <a:ext uri="{FF2B5EF4-FFF2-40B4-BE49-F238E27FC236}">
                        <a16:creationId xmlns:a16="http://schemas.microsoft.com/office/drawing/2014/main" id="{EE901EB6-3601-532D-B78B-8134DB2B3719}"/>
                      </a:ext>
                    </a:extLst>
                  </p:cNvPr>
                  <p:cNvSpPr/>
                  <p:nvPr/>
                </p:nvSpPr>
                <p:spPr>
                  <a:xfrm>
                    <a:off x="4239489" y="749992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9" name="矩形 98">
                    <a:extLst>
                      <a:ext uri="{FF2B5EF4-FFF2-40B4-BE49-F238E27FC236}">
                        <a16:creationId xmlns:a16="http://schemas.microsoft.com/office/drawing/2014/main" id="{89677270-5EA0-430A-4B32-3FE944665013}"/>
                      </a:ext>
                    </a:extLst>
                  </p:cNvPr>
                  <p:cNvSpPr/>
                  <p:nvPr/>
                </p:nvSpPr>
                <p:spPr>
                  <a:xfrm>
                    <a:off x="4664361" y="749992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0" name="矩形 99">
                    <a:extLst>
                      <a:ext uri="{FF2B5EF4-FFF2-40B4-BE49-F238E27FC236}">
                        <a16:creationId xmlns:a16="http://schemas.microsoft.com/office/drawing/2014/main" id="{963776C8-39C2-B256-83D8-BBD52AD8919D}"/>
                      </a:ext>
                    </a:extLst>
                  </p:cNvPr>
                  <p:cNvSpPr/>
                  <p:nvPr/>
                </p:nvSpPr>
                <p:spPr>
                  <a:xfrm>
                    <a:off x="5089233" y="749992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1" name="矩形 100">
                    <a:extLst>
                      <a:ext uri="{FF2B5EF4-FFF2-40B4-BE49-F238E27FC236}">
                        <a16:creationId xmlns:a16="http://schemas.microsoft.com/office/drawing/2014/main" id="{39248698-C416-5FEB-91F8-A30698769659}"/>
                      </a:ext>
                    </a:extLst>
                  </p:cNvPr>
                  <p:cNvSpPr/>
                  <p:nvPr/>
                </p:nvSpPr>
                <p:spPr>
                  <a:xfrm>
                    <a:off x="5514105" y="749992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2" name="矩形 101">
                    <a:extLst>
                      <a:ext uri="{FF2B5EF4-FFF2-40B4-BE49-F238E27FC236}">
                        <a16:creationId xmlns:a16="http://schemas.microsoft.com/office/drawing/2014/main" id="{B2B46BC0-C589-D48D-BD4E-5EC57A540CCB}"/>
                      </a:ext>
                    </a:extLst>
                  </p:cNvPr>
                  <p:cNvSpPr/>
                  <p:nvPr/>
                </p:nvSpPr>
                <p:spPr>
                  <a:xfrm>
                    <a:off x="5938977" y="749992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3" name="矩形 102">
                    <a:extLst>
                      <a:ext uri="{FF2B5EF4-FFF2-40B4-BE49-F238E27FC236}">
                        <a16:creationId xmlns:a16="http://schemas.microsoft.com/office/drawing/2014/main" id="{A1690CAB-7A53-30D7-BD90-F457C3DF67B4}"/>
                      </a:ext>
                    </a:extLst>
                  </p:cNvPr>
                  <p:cNvSpPr/>
                  <p:nvPr/>
                </p:nvSpPr>
                <p:spPr>
                  <a:xfrm>
                    <a:off x="6363849" y="749992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4" name="矩形 103">
                    <a:extLst>
                      <a:ext uri="{FF2B5EF4-FFF2-40B4-BE49-F238E27FC236}">
                        <a16:creationId xmlns:a16="http://schemas.microsoft.com/office/drawing/2014/main" id="{51018457-25FE-2BE6-1157-3FB1A4D67E0A}"/>
                      </a:ext>
                    </a:extLst>
                  </p:cNvPr>
                  <p:cNvSpPr/>
                  <p:nvPr/>
                </p:nvSpPr>
                <p:spPr>
                  <a:xfrm>
                    <a:off x="6788721" y="7499921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5" name="矩形 104">
                    <a:extLst>
                      <a:ext uri="{FF2B5EF4-FFF2-40B4-BE49-F238E27FC236}">
                        <a16:creationId xmlns:a16="http://schemas.microsoft.com/office/drawing/2014/main" id="{2EACC724-3E70-8921-B4CD-0C1BEC661610}"/>
                      </a:ext>
                    </a:extLst>
                  </p:cNvPr>
                  <p:cNvSpPr/>
                  <p:nvPr/>
                </p:nvSpPr>
                <p:spPr>
                  <a:xfrm>
                    <a:off x="2964873" y="7924792"/>
                    <a:ext cx="424873" cy="424873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6" name="矩形 105">
                    <a:extLst>
                      <a:ext uri="{FF2B5EF4-FFF2-40B4-BE49-F238E27FC236}">
                        <a16:creationId xmlns:a16="http://schemas.microsoft.com/office/drawing/2014/main" id="{29B20CD8-E41F-B0DF-9805-68C8036364D7}"/>
                      </a:ext>
                    </a:extLst>
                  </p:cNvPr>
                  <p:cNvSpPr/>
                  <p:nvPr/>
                </p:nvSpPr>
                <p:spPr>
                  <a:xfrm>
                    <a:off x="3389745" y="792479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7" name="矩形 106">
                    <a:extLst>
                      <a:ext uri="{FF2B5EF4-FFF2-40B4-BE49-F238E27FC236}">
                        <a16:creationId xmlns:a16="http://schemas.microsoft.com/office/drawing/2014/main" id="{F45DA840-8CA0-D7A6-FB90-CF0FBC4D2379}"/>
                      </a:ext>
                    </a:extLst>
                  </p:cNvPr>
                  <p:cNvSpPr/>
                  <p:nvPr/>
                </p:nvSpPr>
                <p:spPr>
                  <a:xfrm>
                    <a:off x="3814617" y="792479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8" name="矩形 107">
                    <a:extLst>
                      <a:ext uri="{FF2B5EF4-FFF2-40B4-BE49-F238E27FC236}">
                        <a16:creationId xmlns:a16="http://schemas.microsoft.com/office/drawing/2014/main" id="{8A604B24-8C4B-2DE8-165D-159FDCB7EF3D}"/>
                      </a:ext>
                    </a:extLst>
                  </p:cNvPr>
                  <p:cNvSpPr/>
                  <p:nvPr/>
                </p:nvSpPr>
                <p:spPr>
                  <a:xfrm>
                    <a:off x="4239489" y="792479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9" name="矩形 108">
                    <a:extLst>
                      <a:ext uri="{FF2B5EF4-FFF2-40B4-BE49-F238E27FC236}">
                        <a16:creationId xmlns:a16="http://schemas.microsoft.com/office/drawing/2014/main" id="{599FA221-68CF-B63F-33FD-D8727234E97C}"/>
                      </a:ext>
                    </a:extLst>
                  </p:cNvPr>
                  <p:cNvSpPr/>
                  <p:nvPr/>
                </p:nvSpPr>
                <p:spPr>
                  <a:xfrm>
                    <a:off x="4664361" y="792479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0" name="矩形 109">
                    <a:extLst>
                      <a:ext uri="{FF2B5EF4-FFF2-40B4-BE49-F238E27FC236}">
                        <a16:creationId xmlns:a16="http://schemas.microsoft.com/office/drawing/2014/main" id="{5AD833CF-AF47-6E79-DD70-4AD85B1A85F2}"/>
                      </a:ext>
                    </a:extLst>
                  </p:cNvPr>
                  <p:cNvSpPr/>
                  <p:nvPr/>
                </p:nvSpPr>
                <p:spPr>
                  <a:xfrm>
                    <a:off x="5089233" y="792479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1" name="矩形 110">
                    <a:extLst>
                      <a:ext uri="{FF2B5EF4-FFF2-40B4-BE49-F238E27FC236}">
                        <a16:creationId xmlns:a16="http://schemas.microsoft.com/office/drawing/2014/main" id="{F5F9A673-7624-7FC5-C7F2-C5AC7D623DCC}"/>
                      </a:ext>
                    </a:extLst>
                  </p:cNvPr>
                  <p:cNvSpPr/>
                  <p:nvPr/>
                </p:nvSpPr>
                <p:spPr>
                  <a:xfrm>
                    <a:off x="5514105" y="792479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2" name="矩形 111">
                    <a:extLst>
                      <a:ext uri="{FF2B5EF4-FFF2-40B4-BE49-F238E27FC236}">
                        <a16:creationId xmlns:a16="http://schemas.microsoft.com/office/drawing/2014/main" id="{F54B2A53-DBCB-5943-CA19-3C3EF953B4DE}"/>
                      </a:ext>
                    </a:extLst>
                  </p:cNvPr>
                  <p:cNvSpPr/>
                  <p:nvPr/>
                </p:nvSpPr>
                <p:spPr>
                  <a:xfrm>
                    <a:off x="5938977" y="792479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3" name="矩形 112">
                    <a:extLst>
                      <a:ext uri="{FF2B5EF4-FFF2-40B4-BE49-F238E27FC236}">
                        <a16:creationId xmlns:a16="http://schemas.microsoft.com/office/drawing/2014/main" id="{99295D2E-8FF6-287D-826A-DFBA5EA60278}"/>
                      </a:ext>
                    </a:extLst>
                  </p:cNvPr>
                  <p:cNvSpPr/>
                  <p:nvPr/>
                </p:nvSpPr>
                <p:spPr>
                  <a:xfrm>
                    <a:off x="6363849" y="792479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14" name="矩形 113">
                    <a:extLst>
                      <a:ext uri="{FF2B5EF4-FFF2-40B4-BE49-F238E27FC236}">
                        <a16:creationId xmlns:a16="http://schemas.microsoft.com/office/drawing/2014/main" id="{5D798AAA-F0B0-BF76-A2EB-717C47B30000}"/>
                      </a:ext>
                    </a:extLst>
                  </p:cNvPr>
                  <p:cNvSpPr/>
                  <p:nvPr/>
                </p:nvSpPr>
                <p:spPr>
                  <a:xfrm>
                    <a:off x="6788721" y="7924793"/>
                    <a:ext cx="424872" cy="42487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  <p:cxnSp>
              <p:nvCxnSpPr>
                <p:cNvPr id="117" name="直接箭头连接符 116">
                  <a:extLst>
                    <a:ext uri="{FF2B5EF4-FFF2-40B4-BE49-F238E27FC236}">
                      <a16:creationId xmlns:a16="http://schemas.microsoft.com/office/drawing/2014/main" id="{06664121-B734-616B-1D1F-2BA1F2A58E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80560" y="5209309"/>
                  <a:ext cx="2600960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箭头连接符 117">
                  <a:extLst>
                    <a:ext uri="{FF2B5EF4-FFF2-40B4-BE49-F238E27FC236}">
                      <a16:creationId xmlns:a16="http://schemas.microsoft.com/office/drawing/2014/main" id="{51B7244E-2741-BB97-E9FE-56F52F9EE8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79874" y="3810000"/>
                  <a:ext cx="0" cy="2549447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27" name="文本框 1026">
                  <a:extLst>
                    <a:ext uri="{FF2B5EF4-FFF2-40B4-BE49-F238E27FC236}">
                      <a16:creationId xmlns:a16="http://schemas.microsoft.com/office/drawing/2014/main" id="{367DD0C8-2858-526C-5A7F-6468E7D0E17B}"/>
                    </a:ext>
                  </a:extLst>
                </p:cNvPr>
                <p:cNvSpPr txBox="1"/>
                <p:nvPr/>
              </p:nvSpPr>
              <p:spPr>
                <a:xfrm>
                  <a:off x="4256617" y="4750198"/>
                  <a:ext cx="3690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X’</a:t>
                  </a:r>
                  <a:endParaRPr lang="zh-CN" altLang="en-US" dirty="0"/>
                </a:p>
              </p:txBody>
            </p:sp>
            <p:sp>
              <p:nvSpPr>
                <p:cNvPr id="1029" name="文本框 1028">
                  <a:extLst>
                    <a:ext uri="{FF2B5EF4-FFF2-40B4-BE49-F238E27FC236}">
                      <a16:creationId xmlns:a16="http://schemas.microsoft.com/office/drawing/2014/main" id="{494B96B5-2942-BDBF-C384-907355B1D31A}"/>
                    </a:ext>
                  </a:extLst>
                </p:cNvPr>
                <p:cNvSpPr txBox="1"/>
                <p:nvPr/>
              </p:nvSpPr>
              <p:spPr>
                <a:xfrm>
                  <a:off x="5510862" y="3792231"/>
                  <a:ext cx="3690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Y’</a:t>
                  </a:r>
                  <a:endParaRPr lang="zh-CN" altLang="en-US" dirty="0"/>
                </a:p>
              </p:txBody>
            </p:sp>
          </p:grpSp>
          <p:sp>
            <p:nvSpPr>
              <p:cNvPr id="1052" name="文本框 1051">
                <a:extLst>
                  <a:ext uri="{FF2B5EF4-FFF2-40B4-BE49-F238E27FC236}">
                    <a16:creationId xmlns:a16="http://schemas.microsoft.com/office/drawing/2014/main" id="{4B32E1A3-54D0-7BD2-5688-6F4D9A3BE7DB}"/>
                  </a:ext>
                </a:extLst>
              </p:cNvPr>
              <p:cNvSpPr txBox="1"/>
              <p:nvPr/>
            </p:nvSpPr>
            <p:spPr>
              <a:xfrm>
                <a:off x="2505232" y="6651580"/>
                <a:ext cx="27879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/>
                  <a:t>图</a:t>
                </a:r>
                <a:r>
                  <a:rPr lang="en-US" altLang="zh-CN" sz="2000" dirty="0"/>
                  <a:t>3. </a:t>
                </a:r>
                <a:r>
                  <a:rPr lang="zh-CN" altLang="en-US" sz="2000" dirty="0"/>
                  <a:t>投影单元几何示意</a:t>
                </a:r>
              </a:p>
            </p:txBody>
          </p:sp>
        </p:grpSp>
        <p:grpSp>
          <p:nvGrpSpPr>
            <p:cNvPr id="1070" name="组合 1069">
              <a:extLst>
                <a:ext uri="{FF2B5EF4-FFF2-40B4-BE49-F238E27FC236}">
                  <a16:creationId xmlns:a16="http://schemas.microsoft.com/office/drawing/2014/main" id="{D29F7C7B-DE45-BF66-18E2-DAA64EF4777E}"/>
                </a:ext>
              </a:extLst>
            </p:cNvPr>
            <p:cNvGrpSpPr/>
            <p:nvPr/>
          </p:nvGrpSpPr>
          <p:grpSpPr>
            <a:xfrm>
              <a:off x="2801927" y="4533445"/>
              <a:ext cx="2167559" cy="1993767"/>
              <a:chOff x="2801927" y="4533445"/>
              <a:chExt cx="2167559" cy="1993767"/>
            </a:xfrm>
          </p:grpSpPr>
          <p:sp>
            <p:nvSpPr>
              <p:cNvPr id="1055" name="文本框 1054">
                <a:extLst>
                  <a:ext uri="{FF2B5EF4-FFF2-40B4-BE49-F238E27FC236}">
                    <a16:creationId xmlns:a16="http://schemas.microsoft.com/office/drawing/2014/main" id="{9EB27F78-267A-2681-66B3-9736E243902B}"/>
                  </a:ext>
                </a:extLst>
              </p:cNvPr>
              <p:cNvSpPr txBox="1"/>
              <p:nvPr/>
            </p:nvSpPr>
            <p:spPr>
              <a:xfrm>
                <a:off x="2826819" y="6327157"/>
                <a:ext cx="333746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b="1" dirty="0">
                    <a:solidFill>
                      <a:srgbClr val="FF0000"/>
                    </a:solidFill>
                  </a:rPr>
                  <a:t>127</a:t>
                </a:r>
                <a:endParaRPr lang="zh-CN" altLang="en-US" sz="7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56" name="文本框 1055">
                <a:extLst>
                  <a:ext uri="{FF2B5EF4-FFF2-40B4-BE49-F238E27FC236}">
                    <a16:creationId xmlns:a16="http://schemas.microsoft.com/office/drawing/2014/main" id="{A0E37CEF-A90B-3625-2503-30C0596C283B}"/>
                  </a:ext>
                </a:extLst>
              </p:cNvPr>
              <p:cNvSpPr txBox="1"/>
              <p:nvPr/>
            </p:nvSpPr>
            <p:spPr>
              <a:xfrm>
                <a:off x="4478263" y="6327157"/>
                <a:ext cx="23436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b="1" dirty="0">
                    <a:solidFill>
                      <a:srgbClr val="FF0000"/>
                    </a:solidFill>
                  </a:rPr>
                  <a:t>1</a:t>
                </a:r>
                <a:endParaRPr lang="zh-CN" altLang="en-US" sz="7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57" name="文本框 1056">
                <a:extLst>
                  <a:ext uri="{FF2B5EF4-FFF2-40B4-BE49-F238E27FC236}">
                    <a16:creationId xmlns:a16="http://schemas.microsoft.com/office/drawing/2014/main" id="{3A2CEFEB-87DB-5A3C-786C-819797AB1D32}"/>
                  </a:ext>
                </a:extLst>
              </p:cNvPr>
              <p:cNvSpPr txBox="1"/>
              <p:nvPr/>
            </p:nvSpPr>
            <p:spPr>
              <a:xfrm>
                <a:off x="4677509" y="6327157"/>
                <a:ext cx="23436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b="1" dirty="0">
                    <a:solidFill>
                      <a:srgbClr val="FF0000"/>
                    </a:solidFill>
                  </a:rPr>
                  <a:t>0</a:t>
                </a:r>
                <a:endParaRPr lang="zh-CN" altLang="en-US" sz="7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58" name="文本框 1057">
                <a:extLst>
                  <a:ext uri="{FF2B5EF4-FFF2-40B4-BE49-F238E27FC236}">
                    <a16:creationId xmlns:a16="http://schemas.microsoft.com/office/drawing/2014/main" id="{52694E0A-61AB-3310-D2F2-6D41949004AF}"/>
                  </a:ext>
                </a:extLst>
              </p:cNvPr>
              <p:cNvSpPr txBox="1"/>
              <p:nvPr/>
            </p:nvSpPr>
            <p:spPr>
              <a:xfrm>
                <a:off x="4635740" y="6136336"/>
                <a:ext cx="333746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b="1" dirty="0">
                    <a:solidFill>
                      <a:srgbClr val="FF0000"/>
                    </a:solidFill>
                  </a:rPr>
                  <a:t>128</a:t>
                </a:r>
                <a:endParaRPr lang="zh-CN" altLang="en-US" sz="7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59" name="文本框 1058">
                <a:extLst>
                  <a:ext uri="{FF2B5EF4-FFF2-40B4-BE49-F238E27FC236}">
                    <a16:creationId xmlns:a16="http://schemas.microsoft.com/office/drawing/2014/main" id="{E8196DFB-2C9E-F42B-CDDF-8B4C56E6B5A5}"/>
                  </a:ext>
                </a:extLst>
              </p:cNvPr>
              <p:cNvSpPr txBox="1"/>
              <p:nvPr/>
            </p:nvSpPr>
            <p:spPr>
              <a:xfrm>
                <a:off x="4428570" y="6136336"/>
                <a:ext cx="333746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b="1" dirty="0">
                    <a:solidFill>
                      <a:srgbClr val="FF0000"/>
                    </a:solidFill>
                  </a:rPr>
                  <a:t>129</a:t>
                </a:r>
                <a:endParaRPr lang="zh-CN" altLang="en-US" sz="7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60" name="文本框 1059">
                <a:extLst>
                  <a:ext uri="{FF2B5EF4-FFF2-40B4-BE49-F238E27FC236}">
                    <a16:creationId xmlns:a16="http://schemas.microsoft.com/office/drawing/2014/main" id="{648E8E8D-BFB2-3169-5F16-02103DA9D590}"/>
                  </a:ext>
                </a:extLst>
              </p:cNvPr>
              <p:cNvSpPr txBox="1"/>
              <p:nvPr/>
            </p:nvSpPr>
            <p:spPr>
              <a:xfrm>
                <a:off x="2826819" y="6136336"/>
                <a:ext cx="333746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b="1" dirty="0">
                    <a:solidFill>
                      <a:srgbClr val="FF0000"/>
                    </a:solidFill>
                  </a:rPr>
                  <a:t>255</a:t>
                </a:r>
                <a:endParaRPr lang="zh-CN" altLang="en-US" sz="7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62" name="文本框 1061">
                <a:extLst>
                  <a:ext uri="{FF2B5EF4-FFF2-40B4-BE49-F238E27FC236}">
                    <a16:creationId xmlns:a16="http://schemas.microsoft.com/office/drawing/2014/main" id="{639F34BD-6751-A39F-8827-838AF1F34935}"/>
                  </a:ext>
                </a:extLst>
              </p:cNvPr>
              <p:cNvSpPr txBox="1"/>
              <p:nvPr/>
            </p:nvSpPr>
            <p:spPr>
              <a:xfrm>
                <a:off x="2801927" y="4533445"/>
                <a:ext cx="40107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600" b="1" dirty="0">
                    <a:solidFill>
                      <a:srgbClr val="FF0000"/>
                    </a:solidFill>
                  </a:rPr>
                  <a:t>16383</a:t>
                </a:r>
                <a:endParaRPr lang="zh-CN" altLang="en-US" sz="600" b="1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A40EBA5-9C2E-4323-9CFF-6F49F9C12529}"/>
              </a:ext>
            </a:extLst>
          </p:cNvPr>
          <p:cNvGrpSpPr/>
          <p:nvPr/>
        </p:nvGrpSpPr>
        <p:grpSpPr>
          <a:xfrm>
            <a:off x="7187437" y="3255640"/>
            <a:ext cx="3056178" cy="3499708"/>
            <a:chOff x="7187437" y="3255640"/>
            <a:chExt cx="3056178" cy="3499708"/>
          </a:xfrm>
        </p:grpSpPr>
        <p:sp>
          <p:nvSpPr>
            <p:cNvPr id="1053" name="文本框 1052">
              <a:extLst>
                <a:ext uri="{FF2B5EF4-FFF2-40B4-BE49-F238E27FC236}">
                  <a16:creationId xmlns:a16="http://schemas.microsoft.com/office/drawing/2014/main" id="{5F27BBE8-68B1-181D-DB9E-B7BDACC747E9}"/>
                </a:ext>
              </a:extLst>
            </p:cNvPr>
            <p:cNvSpPr txBox="1"/>
            <p:nvPr/>
          </p:nvSpPr>
          <p:spPr>
            <a:xfrm>
              <a:off x="7714497" y="6355238"/>
              <a:ext cx="2265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/>
                <a:t>图</a:t>
              </a:r>
              <a:r>
                <a:rPr lang="en-US" altLang="zh-CN" sz="2000" dirty="0"/>
                <a:t>4. </a:t>
              </a:r>
              <a:r>
                <a:rPr lang="zh-CN" altLang="en-US" sz="2000" dirty="0"/>
                <a:t>几何关系示意</a:t>
              </a: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BDB3A16-C2D1-4220-9E98-11F09BE4B23A}"/>
                </a:ext>
              </a:extLst>
            </p:cNvPr>
            <p:cNvGrpSpPr/>
            <p:nvPr/>
          </p:nvGrpSpPr>
          <p:grpSpPr>
            <a:xfrm>
              <a:off x="7187437" y="3255640"/>
              <a:ext cx="3056178" cy="3088088"/>
              <a:chOff x="7187437" y="3255640"/>
              <a:chExt cx="3056178" cy="3088088"/>
            </a:xfrm>
          </p:grpSpPr>
          <p:pic>
            <p:nvPicPr>
              <p:cNvPr id="1049" name="图片 1048">
                <a:extLst>
                  <a:ext uri="{FF2B5EF4-FFF2-40B4-BE49-F238E27FC236}">
                    <a16:creationId xmlns:a16="http://schemas.microsoft.com/office/drawing/2014/main" id="{EBE60437-3CC8-39CA-84F5-491E78A3B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87437" y="3255640"/>
                <a:ext cx="3056178" cy="3088088"/>
              </a:xfrm>
              <a:prstGeom prst="rect">
                <a:avLst/>
              </a:prstGeom>
            </p:spPr>
          </p:pic>
          <p:sp>
            <p:nvSpPr>
              <p:cNvPr id="1050" name="文本框 1049">
                <a:extLst>
                  <a:ext uri="{FF2B5EF4-FFF2-40B4-BE49-F238E27FC236}">
                    <a16:creationId xmlns:a16="http://schemas.microsoft.com/office/drawing/2014/main" id="{5AA44A15-B44C-AA58-5E50-71E3C9A3B90A}"/>
                  </a:ext>
                </a:extLst>
              </p:cNvPr>
              <p:cNvSpPr txBox="1"/>
              <p:nvPr/>
            </p:nvSpPr>
            <p:spPr>
              <a:xfrm>
                <a:off x="7411922" y="3356094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X’</a:t>
                </a:r>
                <a:endParaRPr lang="zh-CN" altLang="en-US" dirty="0"/>
              </a:p>
            </p:txBody>
          </p:sp>
          <p:sp>
            <p:nvSpPr>
              <p:cNvPr id="1051" name="文本框 1050">
                <a:extLst>
                  <a:ext uri="{FF2B5EF4-FFF2-40B4-BE49-F238E27FC236}">
                    <a16:creationId xmlns:a16="http://schemas.microsoft.com/office/drawing/2014/main" id="{86D4FAD9-E8CE-BE1C-7E78-89A22793F6E5}"/>
                  </a:ext>
                </a:extLst>
              </p:cNvPr>
              <p:cNvSpPr txBox="1"/>
              <p:nvPr/>
            </p:nvSpPr>
            <p:spPr>
              <a:xfrm>
                <a:off x="9303619" y="3647075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Y’</a:t>
                </a:r>
                <a:endParaRPr lang="zh-CN" altLang="en-US" dirty="0"/>
              </a:p>
            </p:txBody>
          </p:sp>
          <p:sp>
            <p:nvSpPr>
              <p:cNvPr id="1063" name="文本框 1062">
                <a:extLst>
                  <a:ext uri="{FF2B5EF4-FFF2-40B4-BE49-F238E27FC236}">
                    <a16:creationId xmlns:a16="http://schemas.microsoft.com/office/drawing/2014/main" id="{65601588-20B8-A19D-D5FF-5149A5413D6E}"/>
                  </a:ext>
                </a:extLst>
              </p:cNvPr>
              <p:cNvSpPr txBox="1"/>
              <p:nvPr/>
            </p:nvSpPr>
            <p:spPr>
              <a:xfrm>
                <a:off x="8985903" y="5547225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X</a:t>
                </a:r>
                <a:endParaRPr lang="zh-CN" altLang="en-US" dirty="0"/>
              </a:p>
            </p:txBody>
          </p:sp>
          <p:sp>
            <p:nvSpPr>
              <p:cNvPr id="1064" name="文本框 1063">
                <a:extLst>
                  <a:ext uri="{FF2B5EF4-FFF2-40B4-BE49-F238E27FC236}">
                    <a16:creationId xmlns:a16="http://schemas.microsoft.com/office/drawing/2014/main" id="{FC724767-6F4B-A90D-23C2-C76D354EB7A5}"/>
                  </a:ext>
                </a:extLst>
              </p:cNvPr>
              <p:cNvSpPr txBox="1"/>
              <p:nvPr/>
            </p:nvSpPr>
            <p:spPr>
              <a:xfrm>
                <a:off x="7980466" y="4577715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Y</a:t>
                </a:r>
                <a:endParaRPr lang="zh-CN" altLang="en-US" dirty="0"/>
              </a:p>
            </p:txBody>
          </p:sp>
          <p:sp>
            <p:nvSpPr>
              <p:cNvPr id="1065" name="文本框 1064">
                <a:extLst>
                  <a:ext uri="{FF2B5EF4-FFF2-40B4-BE49-F238E27FC236}">
                    <a16:creationId xmlns:a16="http://schemas.microsoft.com/office/drawing/2014/main" id="{A1E7FB8F-6BDC-F17F-EC84-7B253D742C8E}"/>
                  </a:ext>
                </a:extLst>
              </p:cNvPr>
              <p:cNvSpPr txBox="1"/>
              <p:nvPr/>
            </p:nvSpPr>
            <p:spPr>
              <a:xfrm>
                <a:off x="7328489" y="4615018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Z</a:t>
                </a:r>
                <a:endParaRPr lang="zh-CN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6" name="文本框 1065">
                    <a:extLst>
                      <a:ext uri="{FF2B5EF4-FFF2-40B4-BE49-F238E27FC236}">
                        <a16:creationId xmlns:a16="http://schemas.microsoft.com/office/drawing/2014/main" id="{F75F0593-A62A-A7A6-03DF-784733B0474F}"/>
                      </a:ext>
                    </a:extLst>
                  </p:cNvPr>
                  <p:cNvSpPr txBox="1"/>
                  <p:nvPr/>
                </p:nvSpPr>
                <p:spPr>
                  <a:xfrm>
                    <a:off x="8868182" y="5086416"/>
                    <a:ext cx="39305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66" name="文本框 1065">
                    <a:extLst>
                      <a:ext uri="{FF2B5EF4-FFF2-40B4-BE49-F238E27FC236}">
                        <a16:creationId xmlns:a16="http://schemas.microsoft.com/office/drawing/2014/main" id="{F75F0593-A62A-A7A6-03DF-784733B047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68182" y="5086416"/>
                    <a:ext cx="39305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01364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49B3F1-0339-B40E-B54D-F3163BA75774}"/>
              </a:ext>
            </a:extLst>
          </p:cNvPr>
          <p:cNvSpPr txBox="1"/>
          <p:nvPr/>
        </p:nvSpPr>
        <p:spPr>
          <a:xfrm>
            <a:off x="-1" y="332510"/>
            <a:ext cx="12192001" cy="1513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SPECT</a:t>
            </a:r>
            <a:r>
              <a:rPr lang="zh-CN" altLang="en-US" sz="2400" b="1" dirty="0"/>
              <a:t>系统准直器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000" dirty="0">
                <a:latin typeface="+mn-ea"/>
              </a:rPr>
              <a:t>每个探测器均装备正六边形平行孔准直器，平行孔准直器参数如下：</a:t>
            </a:r>
            <a:endParaRPr lang="en-US" altLang="zh-CN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zh-CN" sz="24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D7FA960-56A0-9728-96DA-E49B68C71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72272"/>
              </p:ext>
            </p:extLst>
          </p:nvPr>
        </p:nvGraphicFramePr>
        <p:xfrm>
          <a:off x="2844799" y="1368084"/>
          <a:ext cx="65024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842355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876725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11408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97690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孔型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孔长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孔直径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孔壁厚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05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正六边形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24.05mm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1.11mm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0.16mm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110928"/>
                  </a:ext>
                </a:extLst>
              </a:tr>
            </a:tbl>
          </a:graphicData>
        </a:graphic>
      </p:graphicFrame>
      <p:grpSp>
        <p:nvGrpSpPr>
          <p:cNvPr id="1179" name="组合 1178">
            <a:extLst>
              <a:ext uri="{FF2B5EF4-FFF2-40B4-BE49-F238E27FC236}">
                <a16:creationId xmlns:a16="http://schemas.microsoft.com/office/drawing/2014/main" id="{1EAC1E6A-29FB-C54F-A0EA-400D89B3FCC7}"/>
              </a:ext>
            </a:extLst>
          </p:cNvPr>
          <p:cNvGrpSpPr/>
          <p:nvPr/>
        </p:nvGrpSpPr>
        <p:grpSpPr>
          <a:xfrm>
            <a:off x="1380927" y="2493538"/>
            <a:ext cx="10612953" cy="4031800"/>
            <a:chOff x="1181369" y="2451238"/>
            <a:chExt cx="10612953" cy="4031800"/>
          </a:xfrm>
        </p:grpSpPr>
        <p:grpSp>
          <p:nvGrpSpPr>
            <p:cNvPr id="1166" name="组合 1165">
              <a:extLst>
                <a:ext uri="{FF2B5EF4-FFF2-40B4-BE49-F238E27FC236}">
                  <a16:creationId xmlns:a16="http://schemas.microsoft.com/office/drawing/2014/main" id="{A66C0377-4534-5BC6-2658-D4FDF924ADE0}"/>
                </a:ext>
              </a:extLst>
            </p:cNvPr>
            <p:cNvGrpSpPr/>
            <p:nvPr/>
          </p:nvGrpSpPr>
          <p:grpSpPr>
            <a:xfrm>
              <a:off x="1235642" y="2810885"/>
              <a:ext cx="10558680" cy="3672153"/>
              <a:chOff x="1235642" y="2810885"/>
              <a:chExt cx="10558680" cy="3672153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C4F356D7-D562-4EC8-5E5F-AF5C21D366B4}"/>
                  </a:ext>
                </a:extLst>
              </p:cNvPr>
              <p:cNvGrpSpPr/>
              <p:nvPr/>
            </p:nvGrpSpPr>
            <p:grpSpPr>
              <a:xfrm>
                <a:off x="1235642" y="2810885"/>
                <a:ext cx="3079417" cy="2934770"/>
                <a:chOff x="4795559" y="3279113"/>
                <a:chExt cx="3079417" cy="2934770"/>
              </a:xfrm>
            </p:grpSpPr>
            <p:grpSp>
              <p:nvGrpSpPr>
                <p:cNvPr id="19" name="组合 18">
                  <a:extLst>
                    <a:ext uri="{FF2B5EF4-FFF2-40B4-BE49-F238E27FC236}">
                      <a16:creationId xmlns:a16="http://schemas.microsoft.com/office/drawing/2014/main" id="{B0AAEDBB-FEE2-F8A0-0E10-7B4FDAE34018}"/>
                    </a:ext>
                  </a:extLst>
                </p:cNvPr>
                <p:cNvGrpSpPr/>
                <p:nvPr/>
              </p:nvGrpSpPr>
              <p:grpSpPr>
                <a:xfrm>
                  <a:off x="4795559" y="3279113"/>
                  <a:ext cx="3079417" cy="2934770"/>
                  <a:chOff x="4758983" y="2853917"/>
                  <a:chExt cx="3079417" cy="2934770"/>
                </a:xfrm>
                <a:noFill/>
              </p:grpSpPr>
              <p:grpSp>
                <p:nvGrpSpPr>
                  <p:cNvPr id="10" name="组合 9">
                    <a:extLst>
                      <a:ext uri="{FF2B5EF4-FFF2-40B4-BE49-F238E27FC236}">
                        <a16:creationId xmlns:a16="http://schemas.microsoft.com/office/drawing/2014/main" id="{41A941D8-6247-6706-AE59-C56DB24D103B}"/>
                      </a:ext>
                    </a:extLst>
                  </p:cNvPr>
                  <p:cNvGrpSpPr/>
                  <p:nvPr/>
                </p:nvGrpSpPr>
                <p:grpSpPr>
                  <a:xfrm>
                    <a:off x="4758983" y="3576886"/>
                    <a:ext cx="1703245" cy="1468315"/>
                    <a:chOff x="4758983" y="3576886"/>
                    <a:chExt cx="1703245" cy="1468315"/>
                  </a:xfrm>
                  <a:grpFill/>
                </p:grpSpPr>
                <p:sp>
                  <p:nvSpPr>
                    <p:cNvPr id="4" name="六边形 3">
                      <a:extLst>
                        <a:ext uri="{FF2B5EF4-FFF2-40B4-BE49-F238E27FC236}">
                          <a16:creationId xmlns:a16="http://schemas.microsoft.com/office/drawing/2014/main" id="{3D67E744-0051-BB63-B848-34AEBF284F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58983" y="3576886"/>
                      <a:ext cx="1703245" cy="1468315"/>
                    </a:xfrm>
                    <a:prstGeom prst="hexagon">
                      <a:avLst/>
                    </a:prstGeom>
                    <a:grpFill/>
                    <a:ln w="1905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6" name="直接箭头连接符 5">
                      <a:extLst>
                        <a:ext uri="{FF2B5EF4-FFF2-40B4-BE49-F238E27FC236}">
                          <a16:creationId xmlns:a16="http://schemas.microsoft.com/office/drawing/2014/main" id="{D1EE5867-C94A-ADA8-C2EB-93D77758F1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406681" y="3683508"/>
                      <a:ext cx="0" cy="1274064"/>
                    </a:xfrm>
                    <a:prstGeom prst="straightConnector1">
                      <a:avLst/>
                    </a:prstGeom>
                    <a:grpFill/>
                    <a:ln w="38100">
                      <a:solidFill>
                        <a:srgbClr val="FF0000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6" name="六边形 15">
                    <a:extLst>
                      <a:ext uri="{FF2B5EF4-FFF2-40B4-BE49-F238E27FC236}">
                        <a16:creationId xmlns:a16="http://schemas.microsoft.com/office/drawing/2014/main" id="{93220AEC-2B6D-1918-7AEA-F3AA5F5FFDF7}"/>
                      </a:ext>
                    </a:extLst>
                  </p:cNvPr>
                  <p:cNvSpPr/>
                  <p:nvPr/>
                </p:nvSpPr>
                <p:spPr>
                  <a:xfrm>
                    <a:off x="6135155" y="4320372"/>
                    <a:ext cx="1703245" cy="1468315"/>
                  </a:xfrm>
                  <a:prstGeom prst="hexagon">
                    <a:avLst/>
                  </a:prstGeom>
                  <a:grpFill/>
                  <a:ln w="1905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" name="六边形 17">
                    <a:extLst>
                      <a:ext uri="{FF2B5EF4-FFF2-40B4-BE49-F238E27FC236}">
                        <a16:creationId xmlns:a16="http://schemas.microsoft.com/office/drawing/2014/main" id="{03D23BEA-E6B2-4A85-BC15-9D9636D7E1C4}"/>
                      </a:ext>
                    </a:extLst>
                  </p:cNvPr>
                  <p:cNvSpPr/>
                  <p:nvPr/>
                </p:nvSpPr>
                <p:spPr>
                  <a:xfrm>
                    <a:off x="6122963" y="2853917"/>
                    <a:ext cx="1703245" cy="1468315"/>
                  </a:xfrm>
                  <a:prstGeom prst="hexagon">
                    <a:avLst/>
                  </a:prstGeom>
                  <a:grpFill/>
                  <a:ln w="1905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7834DEF-011B-38EE-8F35-7325C7463589}"/>
                    </a:ext>
                  </a:extLst>
                </p:cNvPr>
                <p:cNvSpPr txBox="1"/>
                <p:nvPr/>
              </p:nvSpPr>
              <p:spPr>
                <a:xfrm>
                  <a:off x="5309324" y="4551573"/>
                  <a:ext cx="11414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dirty="0"/>
                    <a:t>1.11mm</a:t>
                  </a:r>
                  <a:endParaRPr lang="zh-CN" altLang="en-US" dirty="0"/>
                </a:p>
              </p:txBody>
            </p:sp>
            <p:cxnSp>
              <p:nvCxnSpPr>
                <p:cNvPr id="27" name="直接箭头连接符 26">
                  <a:extLst>
                    <a:ext uri="{FF2B5EF4-FFF2-40B4-BE49-F238E27FC236}">
                      <a16:creationId xmlns:a16="http://schemas.microsoft.com/office/drawing/2014/main" id="{0DD0C152-ABF4-22EA-5AD6-B2152A9D68C1}"/>
                    </a:ext>
                  </a:extLst>
                </p:cNvPr>
                <p:cNvCxnSpPr/>
                <p:nvPr/>
              </p:nvCxnSpPr>
              <p:spPr>
                <a:xfrm>
                  <a:off x="7011161" y="4663440"/>
                  <a:ext cx="0" cy="18288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002A0618-E38C-5EF0-9E24-9A651A988652}"/>
                    </a:ext>
                  </a:extLst>
                </p:cNvPr>
                <p:cNvSpPr txBox="1"/>
                <p:nvPr/>
              </p:nvSpPr>
              <p:spPr>
                <a:xfrm>
                  <a:off x="6516623" y="4829556"/>
                  <a:ext cx="10134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dirty="0"/>
                    <a:t>0.16mm</a:t>
                  </a:r>
                  <a:endParaRPr lang="zh-CN" altLang="en-US" dirty="0"/>
                </a:p>
              </p:txBody>
            </p:sp>
          </p:grpSp>
          <p:grpSp>
            <p:nvGrpSpPr>
              <p:cNvPr id="1163" name="组合 1162">
                <a:extLst>
                  <a:ext uri="{FF2B5EF4-FFF2-40B4-BE49-F238E27FC236}">
                    <a16:creationId xmlns:a16="http://schemas.microsoft.com/office/drawing/2014/main" id="{94F739A8-D10B-9EE7-DBF4-286BFFC2AC03}"/>
                  </a:ext>
                </a:extLst>
              </p:cNvPr>
              <p:cNvGrpSpPr/>
              <p:nvPr/>
            </p:nvGrpSpPr>
            <p:grpSpPr>
              <a:xfrm>
                <a:off x="6242059" y="3145338"/>
                <a:ext cx="5552263" cy="2801311"/>
                <a:chOff x="6311507" y="3520968"/>
                <a:chExt cx="5552263" cy="2801311"/>
              </a:xfrm>
            </p:grpSpPr>
            <p:pic>
              <p:nvPicPr>
                <p:cNvPr id="1025" name="图形 1024" descr="无填充的笑脸">
                  <a:extLst>
                    <a:ext uri="{FF2B5EF4-FFF2-40B4-BE49-F238E27FC236}">
                      <a16:creationId xmlns:a16="http://schemas.microsoft.com/office/drawing/2014/main" id="{F350F230-6832-DC3E-CE26-7047F91B6E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05030" y="3580013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31" name="组合 30">
                  <a:extLst>
                    <a:ext uri="{FF2B5EF4-FFF2-40B4-BE49-F238E27FC236}">
                      <a16:creationId xmlns:a16="http://schemas.microsoft.com/office/drawing/2014/main" id="{2833B592-C231-5A02-02D6-FB69969410A8}"/>
                    </a:ext>
                  </a:extLst>
                </p:cNvPr>
                <p:cNvGrpSpPr/>
                <p:nvPr/>
              </p:nvGrpSpPr>
              <p:grpSpPr>
                <a:xfrm>
                  <a:off x="6311507" y="3520968"/>
                  <a:ext cx="3859086" cy="2801311"/>
                  <a:chOff x="4478681" y="1276884"/>
                  <a:chExt cx="6213795" cy="4510595"/>
                </a:xfrm>
                <a:scene3d>
                  <a:camera prst="isometricOffAxis2Left"/>
                  <a:lightRig rig="threePt" dir="t"/>
                </a:scene3d>
              </p:grpSpPr>
              <p:grpSp>
                <p:nvGrpSpPr>
                  <p:cNvPr id="32" name="组合 31">
                    <a:extLst>
                      <a:ext uri="{FF2B5EF4-FFF2-40B4-BE49-F238E27FC236}">
                        <a16:creationId xmlns:a16="http://schemas.microsoft.com/office/drawing/2014/main" id="{9913F699-B3BE-0AA9-FF6B-FE629E146867}"/>
                      </a:ext>
                    </a:extLst>
                  </p:cNvPr>
                  <p:cNvGrpSpPr/>
                  <p:nvPr/>
                </p:nvGrpSpPr>
                <p:grpSpPr>
                  <a:xfrm>
                    <a:off x="4478681" y="3340622"/>
                    <a:ext cx="6125014" cy="2446857"/>
                    <a:chOff x="5845028" y="1461207"/>
                    <a:chExt cx="6125014" cy="2446857"/>
                  </a:xfrm>
                </p:grpSpPr>
                <p:sp>
                  <p:nvSpPr>
                    <p:cNvPr id="1075" name="六边形 1074">
                      <a:extLst>
                        <a:ext uri="{FF2B5EF4-FFF2-40B4-BE49-F238E27FC236}">
                          <a16:creationId xmlns:a16="http://schemas.microsoft.com/office/drawing/2014/main" id="{AD626552-002A-121E-D883-63E509A177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93387" y="181589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76" name="六边形 1075">
                      <a:extLst>
                        <a:ext uri="{FF2B5EF4-FFF2-40B4-BE49-F238E27FC236}">
                          <a16:creationId xmlns:a16="http://schemas.microsoft.com/office/drawing/2014/main" id="{329A8484-89F4-8AA5-E701-C401DED274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7225" y="146120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77" name="六边形 1076">
                      <a:extLst>
                        <a:ext uri="{FF2B5EF4-FFF2-40B4-BE49-F238E27FC236}">
                          <a16:creationId xmlns:a16="http://schemas.microsoft.com/office/drawing/2014/main" id="{A0D21C12-8E27-2694-F8A6-67F767246F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23055" y="187088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78" name="六边形 1077">
                      <a:extLst>
                        <a:ext uri="{FF2B5EF4-FFF2-40B4-BE49-F238E27FC236}">
                          <a16:creationId xmlns:a16="http://schemas.microsoft.com/office/drawing/2014/main" id="{D7C250B2-B438-6CB8-0603-BF18068BEA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9164" y="166543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79" name="六边形 1078">
                      <a:extLst>
                        <a:ext uri="{FF2B5EF4-FFF2-40B4-BE49-F238E27FC236}">
                          <a16:creationId xmlns:a16="http://schemas.microsoft.com/office/drawing/2014/main" id="{63C22BFA-429F-0512-7832-14D5836A3F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72687" y="148820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0" name="六边形 1079">
                      <a:extLst>
                        <a:ext uri="{FF2B5EF4-FFF2-40B4-BE49-F238E27FC236}">
                          <a16:creationId xmlns:a16="http://schemas.microsoft.com/office/drawing/2014/main" id="{A337FEF5-2B51-5477-8E85-89AADFB4DC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58517" y="189788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1" name="六边形 1080">
                      <a:extLst>
                        <a:ext uri="{FF2B5EF4-FFF2-40B4-BE49-F238E27FC236}">
                          <a16:creationId xmlns:a16="http://schemas.microsoft.com/office/drawing/2014/main" id="{14BF2317-1223-135E-107B-38EDDCC174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5098" y="166443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2" name="六边形 1081">
                      <a:extLst>
                        <a:ext uri="{FF2B5EF4-FFF2-40B4-BE49-F238E27FC236}">
                          <a16:creationId xmlns:a16="http://schemas.microsoft.com/office/drawing/2014/main" id="{B6155EFF-1E7A-073E-5D02-D4669CFFD8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18621" y="148721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3" name="六边形 1082">
                      <a:extLst>
                        <a:ext uri="{FF2B5EF4-FFF2-40B4-BE49-F238E27FC236}">
                          <a16:creationId xmlns:a16="http://schemas.microsoft.com/office/drawing/2014/main" id="{E9C83B4C-2A50-9D04-4B0F-BF118C6E35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4451" y="189689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4" name="六边形 1083">
                      <a:extLst>
                        <a:ext uri="{FF2B5EF4-FFF2-40B4-BE49-F238E27FC236}">
                          <a16:creationId xmlns:a16="http://schemas.microsoft.com/office/drawing/2014/main" id="{7CF9029B-2BE9-9D89-4C5B-FEC4892AF0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0560" y="169143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5" name="六边形 1084">
                      <a:extLst>
                        <a:ext uri="{FF2B5EF4-FFF2-40B4-BE49-F238E27FC236}">
                          <a16:creationId xmlns:a16="http://schemas.microsoft.com/office/drawing/2014/main" id="{AE781E49-9748-5B39-11B9-039233B52F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4083" y="151420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6" name="六边形 1085">
                      <a:extLst>
                        <a:ext uri="{FF2B5EF4-FFF2-40B4-BE49-F238E27FC236}">
                          <a16:creationId xmlns:a16="http://schemas.microsoft.com/office/drawing/2014/main" id="{B32904DD-225F-14B9-7684-6E235DD97B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39913" y="1923891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7" name="六边形 1086">
                      <a:extLst>
                        <a:ext uri="{FF2B5EF4-FFF2-40B4-BE49-F238E27FC236}">
                          <a16:creationId xmlns:a16="http://schemas.microsoft.com/office/drawing/2014/main" id="{57BFE127-6A6E-74FE-DEC7-04186300BD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88997" y="243225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8" name="六边形 1087">
                      <a:extLst>
                        <a:ext uri="{FF2B5EF4-FFF2-40B4-BE49-F238E27FC236}">
                          <a16:creationId xmlns:a16="http://schemas.microsoft.com/office/drawing/2014/main" id="{914DC037-5215-9C3F-F2D5-0361F7894A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62520" y="225503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9" name="六边形 1088">
                      <a:extLst>
                        <a:ext uri="{FF2B5EF4-FFF2-40B4-BE49-F238E27FC236}">
                          <a16:creationId xmlns:a16="http://schemas.microsoft.com/office/drawing/2014/main" id="{D73F42B5-F231-BF86-9221-4275808B36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48350" y="266471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0" name="六边形 1089">
                      <a:extLst>
                        <a:ext uri="{FF2B5EF4-FFF2-40B4-BE49-F238E27FC236}">
                          <a16:creationId xmlns:a16="http://schemas.microsoft.com/office/drawing/2014/main" id="{20C2D9C4-B9A3-5DB2-06F0-7114196C87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94774" y="228179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1" name="六边形 1090">
                      <a:extLst>
                        <a:ext uri="{FF2B5EF4-FFF2-40B4-BE49-F238E27FC236}">
                          <a16:creationId xmlns:a16="http://schemas.microsoft.com/office/drawing/2014/main" id="{D0570498-A89A-1B1E-8766-6075F72062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68297" y="210457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2" name="六边形 1091">
                      <a:extLst>
                        <a:ext uri="{FF2B5EF4-FFF2-40B4-BE49-F238E27FC236}">
                          <a16:creationId xmlns:a16="http://schemas.microsoft.com/office/drawing/2014/main" id="{40BFE19A-52B8-5F65-DEEC-9B7A91C8E5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54127" y="251425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3" name="六边形 1092">
                      <a:extLst>
                        <a:ext uri="{FF2B5EF4-FFF2-40B4-BE49-F238E27FC236}">
                          <a16:creationId xmlns:a16="http://schemas.microsoft.com/office/drawing/2014/main" id="{018CBCC2-76E1-8D06-CA45-E8B2497BE5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40708" y="228080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4" name="六边形 1093">
                      <a:extLst>
                        <a:ext uri="{FF2B5EF4-FFF2-40B4-BE49-F238E27FC236}">
                          <a16:creationId xmlns:a16="http://schemas.microsoft.com/office/drawing/2014/main" id="{4D53E8AE-CA05-B685-42BF-CF6311EA85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4231" y="210357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5" name="六边形 1094">
                      <a:extLst>
                        <a:ext uri="{FF2B5EF4-FFF2-40B4-BE49-F238E27FC236}">
                          <a16:creationId xmlns:a16="http://schemas.microsoft.com/office/drawing/2014/main" id="{59B039D8-13D2-6BAD-0EFB-064BAC9FAD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00061" y="251325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6" name="六边形 1095">
                      <a:extLst>
                        <a:ext uri="{FF2B5EF4-FFF2-40B4-BE49-F238E27FC236}">
                          <a16:creationId xmlns:a16="http://schemas.microsoft.com/office/drawing/2014/main" id="{36936A91-8832-21AC-2F8D-94DFDB256F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76170" y="2307801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7" name="六边形 1096">
                      <a:extLst>
                        <a:ext uri="{FF2B5EF4-FFF2-40B4-BE49-F238E27FC236}">
                          <a16:creationId xmlns:a16="http://schemas.microsoft.com/office/drawing/2014/main" id="{198345BD-9C20-9753-4963-DA613D7A76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49693" y="213057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8" name="六边形 1097">
                      <a:extLst>
                        <a:ext uri="{FF2B5EF4-FFF2-40B4-BE49-F238E27FC236}">
                          <a16:creationId xmlns:a16="http://schemas.microsoft.com/office/drawing/2014/main" id="{5020DDCF-20F5-19B5-122A-1B35B525E1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35523" y="2540255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9" name="六边形 1098">
                      <a:extLst>
                        <a:ext uri="{FF2B5EF4-FFF2-40B4-BE49-F238E27FC236}">
                          <a16:creationId xmlns:a16="http://schemas.microsoft.com/office/drawing/2014/main" id="{A0CC21CD-AF97-4491-16E2-6862D7C8D8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79898" y="303102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0" name="六边形 1099">
                      <a:extLst>
                        <a:ext uri="{FF2B5EF4-FFF2-40B4-BE49-F238E27FC236}">
                          <a16:creationId xmlns:a16="http://schemas.microsoft.com/office/drawing/2014/main" id="{82B2B0F7-55EC-EA99-37B6-B20E8B04D7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53421" y="285379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1" name="六边形 1100">
                      <a:extLst>
                        <a:ext uri="{FF2B5EF4-FFF2-40B4-BE49-F238E27FC236}">
                          <a16:creationId xmlns:a16="http://schemas.microsoft.com/office/drawing/2014/main" id="{E37A657C-9ED1-A020-A30E-8A73200A0C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39251" y="326347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2" name="六边形 1101">
                      <a:extLst>
                        <a:ext uri="{FF2B5EF4-FFF2-40B4-BE49-F238E27FC236}">
                          <a16:creationId xmlns:a16="http://schemas.microsoft.com/office/drawing/2014/main" id="{9696631E-4A2B-EA5F-18C4-CC153BB605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15360" y="305801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3" name="六边形 1102">
                      <a:extLst>
                        <a:ext uri="{FF2B5EF4-FFF2-40B4-BE49-F238E27FC236}">
                          <a16:creationId xmlns:a16="http://schemas.microsoft.com/office/drawing/2014/main" id="{D77EDE30-5D07-8E64-6169-9E27F220E5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59198" y="270333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4" name="六边形 1103">
                      <a:extLst>
                        <a:ext uri="{FF2B5EF4-FFF2-40B4-BE49-F238E27FC236}">
                          <a16:creationId xmlns:a16="http://schemas.microsoft.com/office/drawing/2014/main" id="{BF5D6677-9A0E-B752-2D69-CD7B99378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028" y="311301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5" name="六边形 1104">
                      <a:extLst>
                        <a:ext uri="{FF2B5EF4-FFF2-40B4-BE49-F238E27FC236}">
                          <a16:creationId xmlns:a16="http://schemas.microsoft.com/office/drawing/2014/main" id="{64A5A473-8685-BABE-8417-FFBF6E59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1609" y="287956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6" name="六边形 1105">
                      <a:extLst>
                        <a:ext uri="{FF2B5EF4-FFF2-40B4-BE49-F238E27FC236}">
                          <a16:creationId xmlns:a16="http://schemas.microsoft.com/office/drawing/2014/main" id="{D4D5A8AD-0F88-C393-3E7E-55D725403B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05132" y="270233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7" name="六边形 1106">
                      <a:extLst>
                        <a:ext uri="{FF2B5EF4-FFF2-40B4-BE49-F238E27FC236}">
                          <a16:creationId xmlns:a16="http://schemas.microsoft.com/office/drawing/2014/main" id="{BDD3F83B-16FE-C133-B7C9-2373AA2FF9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0962" y="311201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8" name="六边形 1107">
                      <a:extLst>
                        <a:ext uri="{FF2B5EF4-FFF2-40B4-BE49-F238E27FC236}">
                          <a16:creationId xmlns:a16="http://schemas.microsoft.com/office/drawing/2014/main" id="{55CB007F-F3CC-5D12-0AFB-5A6BB5DD35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7071" y="290656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9" name="六边形 1108">
                      <a:extLst>
                        <a:ext uri="{FF2B5EF4-FFF2-40B4-BE49-F238E27FC236}">
                          <a16:creationId xmlns:a16="http://schemas.microsoft.com/office/drawing/2014/main" id="{13A441A0-BBBF-E935-9B9C-FB0399D5DF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0594" y="2729335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10" name="六边形 1109">
                      <a:extLst>
                        <a:ext uri="{FF2B5EF4-FFF2-40B4-BE49-F238E27FC236}">
                          <a16:creationId xmlns:a16="http://schemas.microsoft.com/office/drawing/2014/main" id="{8B787ECC-B87B-4E4D-6CC9-E978D6E8B1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26424" y="313901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11" name="六边形 1110">
                      <a:extLst>
                        <a:ext uri="{FF2B5EF4-FFF2-40B4-BE49-F238E27FC236}">
                          <a16:creationId xmlns:a16="http://schemas.microsoft.com/office/drawing/2014/main" id="{F193F1C7-E6E2-5269-A029-D4F512D42C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49031" y="347015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12" name="六边形 1111">
                      <a:extLst>
                        <a:ext uri="{FF2B5EF4-FFF2-40B4-BE49-F238E27FC236}">
                          <a16:creationId xmlns:a16="http://schemas.microsoft.com/office/drawing/2014/main" id="{B218E7DE-7C93-CB93-B78C-FA82E52C74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84493" y="3497155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13" name="六边形 1112">
                      <a:extLst>
                        <a:ext uri="{FF2B5EF4-FFF2-40B4-BE49-F238E27FC236}">
                          <a16:creationId xmlns:a16="http://schemas.microsoft.com/office/drawing/2014/main" id="{6FDD2A8E-20BF-9E2D-8507-E6C60F4CA3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00742" y="331870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14" name="六边形 1113">
                      <a:extLst>
                        <a:ext uri="{FF2B5EF4-FFF2-40B4-BE49-F238E27FC236}">
                          <a16:creationId xmlns:a16="http://schemas.microsoft.com/office/drawing/2014/main" id="{943B6DBE-2D9E-237F-2D8C-5EB8E99D2B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36204" y="334569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15" name="六边形 1114">
                      <a:extLst>
                        <a:ext uri="{FF2B5EF4-FFF2-40B4-BE49-F238E27FC236}">
                          <a16:creationId xmlns:a16="http://schemas.microsoft.com/office/drawing/2014/main" id="{5D89C03B-11E0-9E16-85F8-18DB393A2D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28329" y="233497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16" name="六边形 1115">
                      <a:extLst>
                        <a:ext uri="{FF2B5EF4-FFF2-40B4-BE49-F238E27FC236}">
                          <a16:creationId xmlns:a16="http://schemas.microsoft.com/office/drawing/2014/main" id="{43C711F7-1733-D036-1F8B-8FE3F33ED1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1852" y="215774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17" name="六边形 1116">
                      <a:extLst>
                        <a:ext uri="{FF2B5EF4-FFF2-40B4-BE49-F238E27FC236}">
                          <a16:creationId xmlns:a16="http://schemas.microsoft.com/office/drawing/2014/main" id="{CDE37ED8-2E2D-6F26-3E33-FCA372D0C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7682" y="256742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18" name="六边形 1117">
                      <a:extLst>
                        <a:ext uri="{FF2B5EF4-FFF2-40B4-BE49-F238E27FC236}">
                          <a16:creationId xmlns:a16="http://schemas.microsoft.com/office/drawing/2014/main" id="{7257E478-1174-0646-5413-014218A77F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3791" y="236197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19" name="六边形 1118">
                      <a:extLst>
                        <a:ext uri="{FF2B5EF4-FFF2-40B4-BE49-F238E27FC236}">
                          <a16:creationId xmlns:a16="http://schemas.microsoft.com/office/drawing/2014/main" id="{06587A1E-1D72-88B6-0260-1F47EB4FC2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37314" y="2184745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20" name="六边形 1119">
                      <a:extLst>
                        <a:ext uri="{FF2B5EF4-FFF2-40B4-BE49-F238E27FC236}">
                          <a16:creationId xmlns:a16="http://schemas.microsoft.com/office/drawing/2014/main" id="{98FA4224-6D6E-6D03-EBA9-27B50320E3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3144" y="259442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21" name="六边形 1120">
                      <a:extLst>
                        <a:ext uri="{FF2B5EF4-FFF2-40B4-BE49-F238E27FC236}">
                          <a16:creationId xmlns:a16="http://schemas.microsoft.com/office/drawing/2014/main" id="{151259D2-F366-E464-78C8-F1692EEF57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9725" y="236097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22" name="六边形 1121">
                      <a:extLst>
                        <a:ext uri="{FF2B5EF4-FFF2-40B4-BE49-F238E27FC236}">
                          <a16:creationId xmlns:a16="http://schemas.microsoft.com/office/drawing/2014/main" id="{828C43A0-FEB1-CAFD-268C-746176514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83248" y="218374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23" name="六边形 1122">
                      <a:extLst>
                        <a:ext uri="{FF2B5EF4-FFF2-40B4-BE49-F238E27FC236}">
                          <a16:creationId xmlns:a16="http://schemas.microsoft.com/office/drawing/2014/main" id="{22AA8F39-1504-6769-6612-4AA5E575D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69078" y="2593431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24" name="六边形 1123">
                      <a:extLst>
                        <a:ext uri="{FF2B5EF4-FFF2-40B4-BE49-F238E27FC236}">
                          <a16:creationId xmlns:a16="http://schemas.microsoft.com/office/drawing/2014/main" id="{174FD222-38C5-E7B3-82F5-F81A8BC205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45187" y="238797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25" name="六边形 1124">
                      <a:extLst>
                        <a:ext uri="{FF2B5EF4-FFF2-40B4-BE49-F238E27FC236}">
                          <a16:creationId xmlns:a16="http://schemas.microsoft.com/office/drawing/2014/main" id="{FAC10DA6-34C0-3BBF-A1E3-837F6786F3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18710" y="221074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26" name="六边形 1125">
                      <a:extLst>
                        <a:ext uri="{FF2B5EF4-FFF2-40B4-BE49-F238E27FC236}">
                          <a16:creationId xmlns:a16="http://schemas.microsoft.com/office/drawing/2014/main" id="{F3BD6E0E-29FD-9CAC-D441-D4A322748A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04540" y="262043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27" name="六边形 1126">
                      <a:extLst>
                        <a:ext uri="{FF2B5EF4-FFF2-40B4-BE49-F238E27FC236}">
                          <a16:creationId xmlns:a16="http://schemas.microsoft.com/office/drawing/2014/main" id="{9F5F67BF-66B3-C82A-8AC2-C1EAC5EC04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23939" y="295133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28" name="六边形 1127">
                      <a:extLst>
                        <a:ext uri="{FF2B5EF4-FFF2-40B4-BE49-F238E27FC236}">
                          <a16:creationId xmlns:a16="http://schemas.microsoft.com/office/drawing/2014/main" id="{405D7CE2-23C6-5C3C-DF13-0DCB6843CF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97462" y="277411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29" name="六边形 1128">
                      <a:extLst>
                        <a:ext uri="{FF2B5EF4-FFF2-40B4-BE49-F238E27FC236}">
                          <a16:creationId xmlns:a16="http://schemas.microsoft.com/office/drawing/2014/main" id="{55034550-5DD4-782D-A134-A8E961FF76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83292" y="318379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30" name="六边形 1129">
                      <a:extLst>
                        <a:ext uri="{FF2B5EF4-FFF2-40B4-BE49-F238E27FC236}">
                          <a16:creationId xmlns:a16="http://schemas.microsoft.com/office/drawing/2014/main" id="{67735408-1877-3E4E-E8FB-BAEE41DF16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59401" y="297833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31" name="六边形 1130">
                      <a:extLst>
                        <a:ext uri="{FF2B5EF4-FFF2-40B4-BE49-F238E27FC236}">
                          <a16:creationId xmlns:a16="http://schemas.microsoft.com/office/drawing/2014/main" id="{D4113EA5-68BF-869D-656E-2AB0F929F9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2924" y="280110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32" name="六边形 1131">
                      <a:extLst>
                        <a:ext uri="{FF2B5EF4-FFF2-40B4-BE49-F238E27FC236}">
                          <a16:creationId xmlns:a16="http://schemas.microsoft.com/office/drawing/2014/main" id="{A763C0C2-EAF0-C2A1-219C-2CA3406374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8754" y="3210791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33" name="六边形 1132">
                      <a:extLst>
                        <a:ext uri="{FF2B5EF4-FFF2-40B4-BE49-F238E27FC236}">
                          <a16:creationId xmlns:a16="http://schemas.microsoft.com/office/drawing/2014/main" id="{9567D60B-85EE-A6E7-1E2F-08C63DB936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05335" y="2977341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34" name="六边形 1133">
                      <a:extLst>
                        <a:ext uri="{FF2B5EF4-FFF2-40B4-BE49-F238E27FC236}">
                          <a16:creationId xmlns:a16="http://schemas.microsoft.com/office/drawing/2014/main" id="{00532EC4-FC16-90E3-768C-3E4B95F092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78858" y="280011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35" name="六边形 1134">
                      <a:extLst>
                        <a:ext uri="{FF2B5EF4-FFF2-40B4-BE49-F238E27FC236}">
                          <a16:creationId xmlns:a16="http://schemas.microsoft.com/office/drawing/2014/main" id="{1314A6FB-168C-A438-52ED-CA5B31005B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4688" y="3209795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36" name="六边形 1135">
                      <a:extLst>
                        <a:ext uri="{FF2B5EF4-FFF2-40B4-BE49-F238E27FC236}">
                          <a16:creationId xmlns:a16="http://schemas.microsoft.com/office/drawing/2014/main" id="{411EA35B-6C08-AA2E-F4A2-6FE550B861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40797" y="300434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37" name="六边形 1136">
                      <a:extLst>
                        <a:ext uri="{FF2B5EF4-FFF2-40B4-BE49-F238E27FC236}">
                          <a16:creationId xmlns:a16="http://schemas.microsoft.com/office/drawing/2014/main" id="{95A98795-5646-5092-26B2-3011FF199C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14320" y="282711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38" name="六边形 1137">
                      <a:extLst>
                        <a:ext uri="{FF2B5EF4-FFF2-40B4-BE49-F238E27FC236}">
                          <a16:creationId xmlns:a16="http://schemas.microsoft.com/office/drawing/2014/main" id="{572DDF7D-0958-C402-F975-77E4C53D06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00150" y="323679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39" name="六边形 1138">
                      <a:extLst>
                        <a:ext uri="{FF2B5EF4-FFF2-40B4-BE49-F238E27FC236}">
                          <a16:creationId xmlns:a16="http://schemas.microsoft.com/office/drawing/2014/main" id="{20715328-16E4-39F9-DC63-E17ACF5D55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88363" y="337287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40" name="六边形 1139">
                      <a:extLst>
                        <a:ext uri="{FF2B5EF4-FFF2-40B4-BE49-F238E27FC236}">
                          <a16:creationId xmlns:a16="http://schemas.microsoft.com/office/drawing/2014/main" id="{D714242F-1499-8982-E0F0-D66B73BBFD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3825" y="3399871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41" name="六边形 1140">
                      <a:extLst>
                        <a:ext uri="{FF2B5EF4-FFF2-40B4-BE49-F238E27FC236}">
                          <a16:creationId xmlns:a16="http://schemas.microsoft.com/office/drawing/2014/main" id="{B027B211-C85C-C1B9-D4E2-B585063838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69759" y="3398875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42" name="六边形 1141">
                      <a:extLst>
                        <a:ext uri="{FF2B5EF4-FFF2-40B4-BE49-F238E27FC236}">
                          <a16:creationId xmlns:a16="http://schemas.microsoft.com/office/drawing/2014/main" id="{93B0DFBD-FDF1-2B38-5D19-F00A752AA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5221" y="342587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43" name="六边形 1142">
                      <a:extLst>
                        <a:ext uri="{FF2B5EF4-FFF2-40B4-BE49-F238E27FC236}">
                          <a16:creationId xmlns:a16="http://schemas.microsoft.com/office/drawing/2014/main" id="{09E7FE04-06EE-A8B4-4713-0F53686046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63475" y="155802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44" name="六边形 1143">
                      <a:extLst>
                        <a:ext uri="{FF2B5EF4-FFF2-40B4-BE49-F238E27FC236}">
                          <a16:creationId xmlns:a16="http://schemas.microsoft.com/office/drawing/2014/main" id="{825AF039-1F81-BEC0-7269-6FDC5F8D86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3908" y="174783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45" name="六边形 1144">
                      <a:extLst>
                        <a:ext uri="{FF2B5EF4-FFF2-40B4-BE49-F238E27FC236}">
                          <a16:creationId xmlns:a16="http://schemas.microsoft.com/office/drawing/2014/main" id="{36A08CAC-68FD-2E54-E099-7BB8776087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0017" y="154237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46" name="六边形 1145">
                      <a:extLst>
                        <a:ext uri="{FF2B5EF4-FFF2-40B4-BE49-F238E27FC236}">
                          <a16:creationId xmlns:a16="http://schemas.microsoft.com/office/drawing/2014/main" id="{E06CF252-4B67-7FAB-0D99-615FA45043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50879" y="176852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47" name="六边形 1146">
                      <a:extLst>
                        <a:ext uri="{FF2B5EF4-FFF2-40B4-BE49-F238E27FC236}">
                          <a16:creationId xmlns:a16="http://schemas.microsoft.com/office/drawing/2014/main" id="{37C929E3-960E-8314-8C50-7A3503510A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83247" y="177360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48" name="六边形 1147">
                      <a:extLst>
                        <a:ext uri="{FF2B5EF4-FFF2-40B4-BE49-F238E27FC236}">
                          <a16:creationId xmlns:a16="http://schemas.microsoft.com/office/drawing/2014/main" id="{2C533C9D-CBF8-250E-0E03-AB63E701FA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15615" y="179765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49" name="六边形 1148">
                      <a:extLst>
                        <a:ext uri="{FF2B5EF4-FFF2-40B4-BE49-F238E27FC236}">
                          <a16:creationId xmlns:a16="http://schemas.microsoft.com/office/drawing/2014/main" id="{3C6519E9-0A27-35E4-085E-E8FFD23833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26988" y="153973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50" name="六边形 1149">
                      <a:extLst>
                        <a:ext uri="{FF2B5EF4-FFF2-40B4-BE49-F238E27FC236}">
                          <a16:creationId xmlns:a16="http://schemas.microsoft.com/office/drawing/2014/main" id="{BF58809C-F4B1-1838-D1D1-F037016A45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07832" y="156989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33" name="组合 32">
                    <a:extLst>
                      <a:ext uri="{FF2B5EF4-FFF2-40B4-BE49-F238E27FC236}">
                        <a16:creationId xmlns:a16="http://schemas.microsoft.com/office/drawing/2014/main" id="{FB39C448-2959-6F0B-0AD1-1FC1B72D805A}"/>
                      </a:ext>
                    </a:extLst>
                  </p:cNvPr>
                  <p:cNvGrpSpPr/>
                  <p:nvPr/>
                </p:nvGrpSpPr>
                <p:grpSpPr>
                  <a:xfrm>
                    <a:off x="4567462" y="1276884"/>
                    <a:ext cx="6125014" cy="2446857"/>
                    <a:chOff x="5845028" y="1461207"/>
                    <a:chExt cx="6125014" cy="2446857"/>
                  </a:xfrm>
                </p:grpSpPr>
                <p:sp>
                  <p:nvSpPr>
                    <p:cNvPr id="34" name="六边形 33">
                      <a:extLst>
                        <a:ext uri="{FF2B5EF4-FFF2-40B4-BE49-F238E27FC236}">
                          <a16:creationId xmlns:a16="http://schemas.microsoft.com/office/drawing/2014/main" id="{DC4F5067-4315-9168-B0A1-D17FC9E986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93387" y="181589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5" name="六边形 34">
                      <a:extLst>
                        <a:ext uri="{FF2B5EF4-FFF2-40B4-BE49-F238E27FC236}">
                          <a16:creationId xmlns:a16="http://schemas.microsoft.com/office/drawing/2014/main" id="{87B20931-359C-B954-FF70-50CE46CA3D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7225" y="146120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6" name="六边形 35">
                      <a:extLst>
                        <a:ext uri="{FF2B5EF4-FFF2-40B4-BE49-F238E27FC236}">
                          <a16:creationId xmlns:a16="http://schemas.microsoft.com/office/drawing/2014/main" id="{F5707FB6-639D-4D81-6FEB-3C5D8F2530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23055" y="187088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7" name="六边形 36">
                      <a:extLst>
                        <a:ext uri="{FF2B5EF4-FFF2-40B4-BE49-F238E27FC236}">
                          <a16:creationId xmlns:a16="http://schemas.microsoft.com/office/drawing/2014/main" id="{105D5604-A30D-CA52-86EF-8789C1DBBC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9164" y="166543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8" name="六边形 37">
                      <a:extLst>
                        <a:ext uri="{FF2B5EF4-FFF2-40B4-BE49-F238E27FC236}">
                          <a16:creationId xmlns:a16="http://schemas.microsoft.com/office/drawing/2014/main" id="{238F1374-D1D9-3208-C743-DD3020D52D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72687" y="148820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9" name="六边形 38">
                      <a:extLst>
                        <a:ext uri="{FF2B5EF4-FFF2-40B4-BE49-F238E27FC236}">
                          <a16:creationId xmlns:a16="http://schemas.microsoft.com/office/drawing/2014/main" id="{1F49609D-9609-9DE1-7581-5436DFC1EB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58517" y="189788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0" name="六边形 39">
                      <a:extLst>
                        <a:ext uri="{FF2B5EF4-FFF2-40B4-BE49-F238E27FC236}">
                          <a16:creationId xmlns:a16="http://schemas.microsoft.com/office/drawing/2014/main" id="{D24427CC-396A-1C32-05FC-8F58AAE7E5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5098" y="166443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1" name="六边形 40">
                      <a:extLst>
                        <a:ext uri="{FF2B5EF4-FFF2-40B4-BE49-F238E27FC236}">
                          <a16:creationId xmlns:a16="http://schemas.microsoft.com/office/drawing/2014/main" id="{1CCFB4D0-0911-2D35-5001-1B153A0CCC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18621" y="148721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2" name="六边形 41">
                      <a:extLst>
                        <a:ext uri="{FF2B5EF4-FFF2-40B4-BE49-F238E27FC236}">
                          <a16:creationId xmlns:a16="http://schemas.microsoft.com/office/drawing/2014/main" id="{C823977F-CB73-68EB-1159-8AD2A396F1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4451" y="189689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3" name="六边形 42">
                      <a:extLst>
                        <a:ext uri="{FF2B5EF4-FFF2-40B4-BE49-F238E27FC236}">
                          <a16:creationId xmlns:a16="http://schemas.microsoft.com/office/drawing/2014/main" id="{712468CE-6997-AE7C-6E52-DA49B36AB5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0560" y="169143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4" name="六边形 43">
                      <a:extLst>
                        <a:ext uri="{FF2B5EF4-FFF2-40B4-BE49-F238E27FC236}">
                          <a16:creationId xmlns:a16="http://schemas.microsoft.com/office/drawing/2014/main" id="{FF34EA5B-1420-2440-55F0-FB782BD5CE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4083" y="151420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5" name="六边形 44">
                      <a:extLst>
                        <a:ext uri="{FF2B5EF4-FFF2-40B4-BE49-F238E27FC236}">
                          <a16:creationId xmlns:a16="http://schemas.microsoft.com/office/drawing/2014/main" id="{F6803AAF-A4C3-F6A1-5EE9-F740F8150B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39913" y="1923891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6" name="六边形 45">
                      <a:extLst>
                        <a:ext uri="{FF2B5EF4-FFF2-40B4-BE49-F238E27FC236}">
                          <a16:creationId xmlns:a16="http://schemas.microsoft.com/office/drawing/2014/main" id="{A05B7045-405C-1A05-C9BA-0372610CD9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88997" y="243225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7" name="六边形 46">
                      <a:extLst>
                        <a:ext uri="{FF2B5EF4-FFF2-40B4-BE49-F238E27FC236}">
                          <a16:creationId xmlns:a16="http://schemas.microsoft.com/office/drawing/2014/main" id="{8B656CFE-ECF4-D9F1-711A-C50D2E93B8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62520" y="225503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8" name="六边形 47">
                      <a:extLst>
                        <a:ext uri="{FF2B5EF4-FFF2-40B4-BE49-F238E27FC236}">
                          <a16:creationId xmlns:a16="http://schemas.microsoft.com/office/drawing/2014/main" id="{66C16E25-ECB0-01E7-0FE1-EE3D4FBC19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48350" y="266471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9" name="六边形 48">
                      <a:extLst>
                        <a:ext uri="{FF2B5EF4-FFF2-40B4-BE49-F238E27FC236}">
                          <a16:creationId xmlns:a16="http://schemas.microsoft.com/office/drawing/2014/main" id="{E4B5BB8C-B032-AA2B-8DFD-F197A8E2A7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94774" y="228179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0" name="六边形 49">
                      <a:extLst>
                        <a:ext uri="{FF2B5EF4-FFF2-40B4-BE49-F238E27FC236}">
                          <a16:creationId xmlns:a16="http://schemas.microsoft.com/office/drawing/2014/main" id="{597C99F0-67FF-B39A-7752-80A95E2673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68297" y="210457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1" name="六边形 50">
                      <a:extLst>
                        <a:ext uri="{FF2B5EF4-FFF2-40B4-BE49-F238E27FC236}">
                          <a16:creationId xmlns:a16="http://schemas.microsoft.com/office/drawing/2014/main" id="{3F4A2031-99F0-801A-8C2A-7ED401018C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54127" y="251425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2" name="六边形 51">
                      <a:extLst>
                        <a:ext uri="{FF2B5EF4-FFF2-40B4-BE49-F238E27FC236}">
                          <a16:creationId xmlns:a16="http://schemas.microsoft.com/office/drawing/2014/main" id="{0CACAEDA-8B2B-9A59-1E2F-EFFD7181B7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40708" y="228080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3" name="六边形 52">
                      <a:extLst>
                        <a:ext uri="{FF2B5EF4-FFF2-40B4-BE49-F238E27FC236}">
                          <a16:creationId xmlns:a16="http://schemas.microsoft.com/office/drawing/2014/main" id="{99BD6B66-CBDC-BB59-B900-5531240AAF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4231" y="210357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4" name="六边形 53">
                      <a:extLst>
                        <a:ext uri="{FF2B5EF4-FFF2-40B4-BE49-F238E27FC236}">
                          <a16:creationId xmlns:a16="http://schemas.microsoft.com/office/drawing/2014/main" id="{69067371-272D-DC92-17DE-313777164F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00061" y="251325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5" name="六边形 54">
                      <a:extLst>
                        <a:ext uri="{FF2B5EF4-FFF2-40B4-BE49-F238E27FC236}">
                          <a16:creationId xmlns:a16="http://schemas.microsoft.com/office/drawing/2014/main" id="{DAC4CF2A-0F51-F948-452D-10A895C3CC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76170" y="2307801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" name="六边形 55">
                      <a:extLst>
                        <a:ext uri="{FF2B5EF4-FFF2-40B4-BE49-F238E27FC236}">
                          <a16:creationId xmlns:a16="http://schemas.microsoft.com/office/drawing/2014/main" id="{FA044F0B-ABC7-CDBD-4AC7-66CD71F1E5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49693" y="213057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" name="六边形 56">
                      <a:extLst>
                        <a:ext uri="{FF2B5EF4-FFF2-40B4-BE49-F238E27FC236}">
                          <a16:creationId xmlns:a16="http://schemas.microsoft.com/office/drawing/2014/main" id="{D62A81B8-52F6-C5E1-DD20-498FB83EE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35523" y="2540255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" name="六边形 57">
                      <a:extLst>
                        <a:ext uri="{FF2B5EF4-FFF2-40B4-BE49-F238E27FC236}">
                          <a16:creationId xmlns:a16="http://schemas.microsoft.com/office/drawing/2014/main" id="{F5312026-2FCF-AA8F-406F-8A19917213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79898" y="303102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" name="六边形 58">
                      <a:extLst>
                        <a:ext uri="{FF2B5EF4-FFF2-40B4-BE49-F238E27FC236}">
                          <a16:creationId xmlns:a16="http://schemas.microsoft.com/office/drawing/2014/main" id="{57BB8406-D906-7DA9-35D3-5E193254A4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53421" y="285379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" name="六边形 59">
                      <a:extLst>
                        <a:ext uri="{FF2B5EF4-FFF2-40B4-BE49-F238E27FC236}">
                          <a16:creationId xmlns:a16="http://schemas.microsoft.com/office/drawing/2014/main" id="{12C78413-EDD2-A9A8-D77B-DECD423E5E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39251" y="326347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" name="六边形 60">
                      <a:extLst>
                        <a:ext uri="{FF2B5EF4-FFF2-40B4-BE49-F238E27FC236}">
                          <a16:creationId xmlns:a16="http://schemas.microsoft.com/office/drawing/2014/main" id="{7B84CADC-0C4F-9F37-564A-0A5AAF35AC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15360" y="305801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" name="六边形 61">
                      <a:extLst>
                        <a:ext uri="{FF2B5EF4-FFF2-40B4-BE49-F238E27FC236}">
                          <a16:creationId xmlns:a16="http://schemas.microsoft.com/office/drawing/2014/main" id="{FD731B56-B545-EDEF-353D-7E9A7FCFFA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59198" y="270333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" name="六边形 62">
                      <a:extLst>
                        <a:ext uri="{FF2B5EF4-FFF2-40B4-BE49-F238E27FC236}">
                          <a16:creationId xmlns:a16="http://schemas.microsoft.com/office/drawing/2014/main" id="{679E3E44-7880-574B-B195-1AEC187C75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028" y="311301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24" name="六边形 1023">
                      <a:extLst>
                        <a:ext uri="{FF2B5EF4-FFF2-40B4-BE49-F238E27FC236}">
                          <a16:creationId xmlns:a16="http://schemas.microsoft.com/office/drawing/2014/main" id="{135EB9B9-0B25-D11D-61B3-2EB323EBD4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1609" y="287956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26" name="六边形 1025">
                      <a:extLst>
                        <a:ext uri="{FF2B5EF4-FFF2-40B4-BE49-F238E27FC236}">
                          <a16:creationId xmlns:a16="http://schemas.microsoft.com/office/drawing/2014/main" id="{3D132E1B-D6A3-7229-6784-979315FE16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05132" y="270233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27" name="六边形 1026">
                      <a:extLst>
                        <a:ext uri="{FF2B5EF4-FFF2-40B4-BE49-F238E27FC236}">
                          <a16:creationId xmlns:a16="http://schemas.microsoft.com/office/drawing/2014/main" id="{5093518B-475B-15EE-3D64-92592EDE90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0962" y="311201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28" name="六边形 1027">
                      <a:extLst>
                        <a:ext uri="{FF2B5EF4-FFF2-40B4-BE49-F238E27FC236}">
                          <a16:creationId xmlns:a16="http://schemas.microsoft.com/office/drawing/2014/main" id="{DD5E7229-A1C0-DE0D-EFE3-E09F1C8333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7071" y="290656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29" name="六边形 1028">
                      <a:extLst>
                        <a:ext uri="{FF2B5EF4-FFF2-40B4-BE49-F238E27FC236}">
                          <a16:creationId xmlns:a16="http://schemas.microsoft.com/office/drawing/2014/main" id="{9C16F4B8-988C-E935-FF3F-E6AC44CC3B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0594" y="2729335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0" name="六边形 1029">
                      <a:extLst>
                        <a:ext uri="{FF2B5EF4-FFF2-40B4-BE49-F238E27FC236}">
                          <a16:creationId xmlns:a16="http://schemas.microsoft.com/office/drawing/2014/main" id="{01FF5587-E8AB-D2EB-187E-5FD31098D7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26424" y="313901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1" name="六边形 1030">
                      <a:extLst>
                        <a:ext uri="{FF2B5EF4-FFF2-40B4-BE49-F238E27FC236}">
                          <a16:creationId xmlns:a16="http://schemas.microsoft.com/office/drawing/2014/main" id="{7461C9BF-5ED5-616B-0D7B-5E603CCD8D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49031" y="347015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2" name="六边形 1031">
                      <a:extLst>
                        <a:ext uri="{FF2B5EF4-FFF2-40B4-BE49-F238E27FC236}">
                          <a16:creationId xmlns:a16="http://schemas.microsoft.com/office/drawing/2014/main" id="{881FC792-68D0-E3EA-C005-DBCFCE0A66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84493" y="3497155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3" name="六边形 1032">
                      <a:extLst>
                        <a:ext uri="{FF2B5EF4-FFF2-40B4-BE49-F238E27FC236}">
                          <a16:creationId xmlns:a16="http://schemas.microsoft.com/office/drawing/2014/main" id="{F560A1D2-46A0-5B01-38DD-D4A6DE4E5B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00742" y="331870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4" name="六边形 1033">
                      <a:extLst>
                        <a:ext uri="{FF2B5EF4-FFF2-40B4-BE49-F238E27FC236}">
                          <a16:creationId xmlns:a16="http://schemas.microsoft.com/office/drawing/2014/main" id="{E4DF23B0-F1F6-86F4-775B-C45AA5A071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36204" y="334569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5" name="六边形 1034">
                      <a:extLst>
                        <a:ext uri="{FF2B5EF4-FFF2-40B4-BE49-F238E27FC236}">
                          <a16:creationId xmlns:a16="http://schemas.microsoft.com/office/drawing/2014/main" id="{E9392A34-97AA-5541-1DE6-8C1C33AAFB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28329" y="233497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6" name="六边形 1035">
                      <a:extLst>
                        <a:ext uri="{FF2B5EF4-FFF2-40B4-BE49-F238E27FC236}">
                          <a16:creationId xmlns:a16="http://schemas.microsoft.com/office/drawing/2014/main" id="{E7AE97D6-5873-8095-BC5D-678AEA9B0A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1852" y="215774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7" name="六边形 1036">
                      <a:extLst>
                        <a:ext uri="{FF2B5EF4-FFF2-40B4-BE49-F238E27FC236}">
                          <a16:creationId xmlns:a16="http://schemas.microsoft.com/office/drawing/2014/main" id="{BF93ED0E-0014-31EC-03AB-C2AE97225A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7682" y="256742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8" name="六边形 1037">
                      <a:extLst>
                        <a:ext uri="{FF2B5EF4-FFF2-40B4-BE49-F238E27FC236}">
                          <a16:creationId xmlns:a16="http://schemas.microsoft.com/office/drawing/2014/main" id="{20655F12-95A9-C84E-3EA3-E95E148AC5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3791" y="236197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9" name="六边形 1038">
                      <a:extLst>
                        <a:ext uri="{FF2B5EF4-FFF2-40B4-BE49-F238E27FC236}">
                          <a16:creationId xmlns:a16="http://schemas.microsoft.com/office/drawing/2014/main" id="{19F4EC40-45CF-32CE-3C64-7136BCA253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37314" y="2184745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0" name="六边形 1039">
                      <a:extLst>
                        <a:ext uri="{FF2B5EF4-FFF2-40B4-BE49-F238E27FC236}">
                          <a16:creationId xmlns:a16="http://schemas.microsoft.com/office/drawing/2014/main" id="{33E13073-2BDB-345E-46FE-043FD452ED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3144" y="259442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1" name="六边形 1040">
                      <a:extLst>
                        <a:ext uri="{FF2B5EF4-FFF2-40B4-BE49-F238E27FC236}">
                          <a16:creationId xmlns:a16="http://schemas.microsoft.com/office/drawing/2014/main" id="{07963962-53DA-E035-F385-8F517D3410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9725" y="236097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2" name="六边形 1041">
                      <a:extLst>
                        <a:ext uri="{FF2B5EF4-FFF2-40B4-BE49-F238E27FC236}">
                          <a16:creationId xmlns:a16="http://schemas.microsoft.com/office/drawing/2014/main" id="{5B28CD6F-0D18-8E46-37A0-28A08816B6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83248" y="218374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3" name="六边形 1042">
                      <a:extLst>
                        <a:ext uri="{FF2B5EF4-FFF2-40B4-BE49-F238E27FC236}">
                          <a16:creationId xmlns:a16="http://schemas.microsoft.com/office/drawing/2014/main" id="{84B7CBFC-C6F6-8F90-FBCA-34D802872B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69078" y="2593431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4" name="六边形 1043">
                      <a:extLst>
                        <a:ext uri="{FF2B5EF4-FFF2-40B4-BE49-F238E27FC236}">
                          <a16:creationId xmlns:a16="http://schemas.microsoft.com/office/drawing/2014/main" id="{3A8890FF-878C-7F46-4B10-8B3365A427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45187" y="238797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5" name="六边形 1044">
                      <a:extLst>
                        <a:ext uri="{FF2B5EF4-FFF2-40B4-BE49-F238E27FC236}">
                          <a16:creationId xmlns:a16="http://schemas.microsoft.com/office/drawing/2014/main" id="{2A8682A7-6C23-689C-E85B-8B8D54B2F2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18710" y="221074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6" name="六边形 1045">
                      <a:extLst>
                        <a:ext uri="{FF2B5EF4-FFF2-40B4-BE49-F238E27FC236}">
                          <a16:creationId xmlns:a16="http://schemas.microsoft.com/office/drawing/2014/main" id="{552809EC-A8E7-FF7A-ECEA-4D96CD83D3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04540" y="262043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7" name="六边形 1046">
                      <a:extLst>
                        <a:ext uri="{FF2B5EF4-FFF2-40B4-BE49-F238E27FC236}">
                          <a16:creationId xmlns:a16="http://schemas.microsoft.com/office/drawing/2014/main" id="{562D1839-C309-94C0-8CBB-F5A6A84E3C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23939" y="295133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8" name="六边形 1047">
                      <a:extLst>
                        <a:ext uri="{FF2B5EF4-FFF2-40B4-BE49-F238E27FC236}">
                          <a16:creationId xmlns:a16="http://schemas.microsoft.com/office/drawing/2014/main" id="{9D48C3DA-48E8-6ADC-F5D7-BC526D3136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97462" y="277411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52" name="六边形 1051">
                      <a:extLst>
                        <a:ext uri="{FF2B5EF4-FFF2-40B4-BE49-F238E27FC236}">
                          <a16:creationId xmlns:a16="http://schemas.microsoft.com/office/drawing/2014/main" id="{C102D6AE-CAD2-2662-0860-A149EB202D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83292" y="318379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53" name="六边形 1052">
                      <a:extLst>
                        <a:ext uri="{FF2B5EF4-FFF2-40B4-BE49-F238E27FC236}">
                          <a16:creationId xmlns:a16="http://schemas.microsoft.com/office/drawing/2014/main" id="{908B244E-29BD-B5C5-A2C7-478260E55A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59401" y="297833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55" name="六边形 1054">
                      <a:extLst>
                        <a:ext uri="{FF2B5EF4-FFF2-40B4-BE49-F238E27FC236}">
                          <a16:creationId xmlns:a16="http://schemas.microsoft.com/office/drawing/2014/main" id="{6207DAE5-CCBC-C4A8-17DF-984C5BA293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2924" y="280110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56" name="六边形 1055">
                      <a:extLst>
                        <a:ext uri="{FF2B5EF4-FFF2-40B4-BE49-F238E27FC236}">
                          <a16:creationId xmlns:a16="http://schemas.microsoft.com/office/drawing/2014/main" id="{86E32CAA-69B0-E21E-D6EC-1616288A98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8754" y="3210791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57" name="六边形 1056">
                      <a:extLst>
                        <a:ext uri="{FF2B5EF4-FFF2-40B4-BE49-F238E27FC236}">
                          <a16:creationId xmlns:a16="http://schemas.microsoft.com/office/drawing/2014/main" id="{0F9748CB-FEF9-A296-7715-131B8D043D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05335" y="2977341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58" name="六边形 1057">
                      <a:extLst>
                        <a:ext uri="{FF2B5EF4-FFF2-40B4-BE49-F238E27FC236}">
                          <a16:creationId xmlns:a16="http://schemas.microsoft.com/office/drawing/2014/main" id="{2873EB4D-9A7C-3E49-B2E1-67C30ADCC6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78858" y="280011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59" name="六边形 1058">
                      <a:extLst>
                        <a:ext uri="{FF2B5EF4-FFF2-40B4-BE49-F238E27FC236}">
                          <a16:creationId xmlns:a16="http://schemas.microsoft.com/office/drawing/2014/main" id="{B36EBA98-5B80-C1A9-C2B1-6D494ECC4A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4688" y="3209795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60" name="六边形 1059">
                      <a:extLst>
                        <a:ext uri="{FF2B5EF4-FFF2-40B4-BE49-F238E27FC236}">
                          <a16:creationId xmlns:a16="http://schemas.microsoft.com/office/drawing/2014/main" id="{0D42439B-327E-425E-4F34-AD3D5F9819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40797" y="3004340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61" name="六边形 1060">
                      <a:extLst>
                        <a:ext uri="{FF2B5EF4-FFF2-40B4-BE49-F238E27FC236}">
                          <a16:creationId xmlns:a16="http://schemas.microsoft.com/office/drawing/2014/main" id="{A3055913-D623-D304-E9FB-92F96ECCCA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14320" y="282711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62" name="六边形 1061">
                      <a:extLst>
                        <a:ext uri="{FF2B5EF4-FFF2-40B4-BE49-F238E27FC236}">
                          <a16:creationId xmlns:a16="http://schemas.microsoft.com/office/drawing/2014/main" id="{137795ED-6348-06B2-428B-5D0DD5E6D1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00150" y="323679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63" name="六边形 1062">
                      <a:extLst>
                        <a:ext uri="{FF2B5EF4-FFF2-40B4-BE49-F238E27FC236}">
                          <a16:creationId xmlns:a16="http://schemas.microsoft.com/office/drawing/2014/main" id="{0BFDAEB5-040D-50E4-D1EE-7372F2F9F8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88363" y="3372872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64" name="六边形 1063">
                      <a:extLst>
                        <a:ext uri="{FF2B5EF4-FFF2-40B4-BE49-F238E27FC236}">
                          <a16:creationId xmlns:a16="http://schemas.microsoft.com/office/drawing/2014/main" id="{28DE905B-128A-4B7D-2423-2E85412FB1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3825" y="3399871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65" name="六边形 1064">
                      <a:extLst>
                        <a:ext uri="{FF2B5EF4-FFF2-40B4-BE49-F238E27FC236}">
                          <a16:creationId xmlns:a16="http://schemas.microsoft.com/office/drawing/2014/main" id="{7AFF7159-51F0-8F26-2104-23D7C26642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69759" y="3398875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66" name="六边形 1065">
                      <a:extLst>
                        <a:ext uri="{FF2B5EF4-FFF2-40B4-BE49-F238E27FC236}">
                          <a16:creationId xmlns:a16="http://schemas.microsoft.com/office/drawing/2014/main" id="{CF99B5BA-65AD-A4B7-61F3-415BD5722B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5221" y="3425874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67" name="六边形 1066">
                      <a:extLst>
                        <a:ext uri="{FF2B5EF4-FFF2-40B4-BE49-F238E27FC236}">
                          <a16:creationId xmlns:a16="http://schemas.microsoft.com/office/drawing/2014/main" id="{9762B944-7084-C3C0-F94D-5A45C829AC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63475" y="155802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68" name="六边形 1067">
                      <a:extLst>
                        <a:ext uri="{FF2B5EF4-FFF2-40B4-BE49-F238E27FC236}">
                          <a16:creationId xmlns:a16="http://schemas.microsoft.com/office/drawing/2014/main" id="{77485C67-4447-544D-312B-F0A9D54DF7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3908" y="174783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69" name="六边形 1068">
                      <a:extLst>
                        <a:ext uri="{FF2B5EF4-FFF2-40B4-BE49-F238E27FC236}">
                          <a16:creationId xmlns:a16="http://schemas.microsoft.com/office/drawing/2014/main" id="{D160D4A1-1308-EAE9-711C-C9DEDA98B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0017" y="1542378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70" name="六边形 1069">
                      <a:extLst>
                        <a:ext uri="{FF2B5EF4-FFF2-40B4-BE49-F238E27FC236}">
                          <a16:creationId xmlns:a16="http://schemas.microsoft.com/office/drawing/2014/main" id="{E0D56084-9B28-B9A9-7E63-A97A4F742E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50879" y="176852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71" name="六边形 1070">
                      <a:extLst>
                        <a:ext uri="{FF2B5EF4-FFF2-40B4-BE49-F238E27FC236}">
                          <a16:creationId xmlns:a16="http://schemas.microsoft.com/office/drawing/2014/main" id="{A88C0800-ED03-C5C5-507F-120A2A5697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83247" y="1773603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72" name="六边形 1071">
                      <a:extLst>
                        <a:ext uri="{FF2B5EF4-FFF2-40B4-BE49-F238E27FC236}">
                          <a16:creationId xmlns:a16="http://schemas.microsoft.com/office/drawing/2014/main" id="{1AA1636C-A131-DA06-8399-8FBD826452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15615" y="1797657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73" name="六边形 1072">
                      <a:extLst>
                        <a:ext uri="{FF2B5EF4-FFF2-40B4-BE49-F238E27FC236}">
                          <a16:creationId xmlns:a16="http://schemas.microsoft.com/office/drawing/2014/main" id="{11D8D4E0-11EF-464D-BC9C-0306A1E56B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26988" y="1539736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74" name="六边形 1073">
                      <a:extLst>
                        <a:ext uri="{FF2B5EF4-FFF2-40B4-BE49-F238E27FC236}">
                          <a16:creationId xmlns:a16="http://schemas.microsoft.com/office/drawing/2014/main" id="{9F4E0A7F-BD29-8005-4CAD-17397E32B9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07832" y="1569899"/>
                      <a:ext cx="476655" cy="410909"/>
                    </a:xfrm>
                    <a:prstGeom prst="hexagon">
                      <a:avLst/>
                    </a:prstGeom>
                    <a:noFill/>
                    <a:ln w="57150">
                      <a:solidFill>
                        <a:schemeClr val="bg2">
                          <a:lumMod val="75000"/>
                        </a:schemeClr>
                      </a:solidFill>
                    </a:ln>
                    <a:sp3d extrusionH="1270000" prstMaterial="dkEdge">
                      <a:extrusionClr>
                        <a:schemeClr val="bg2">
                          <a:lumMod val="75000"/>
                        </a:schemeClr>
                      </a:extrusionClr>
                    </a:sp3d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grpSp>
              <p:nvGrpSpPr>
                <p:cNvPr id="1162" name="组合 1161">
                  <a:extLst>
                    <a:ext uri="{FF2B5EF4-FFF2-40B4-BE49-F238E27FC236}">
                      <a16:creationId xmlns:a16="http://schemas.microsoft.com/office/drawing/2014/main" id="{037671EB-2A3C-EA43-F7FA-AC5CEAA37CD8}"/>
                    </a:ext>
                  </a:extLst>
                </p:cNvPr>
                <p:cNvGrpSpPr/>
                <p:nvPr/>
              </p:nvGrpSpPr>
              <p:grpSpPr>
                <a:xfrm>
                  <a:off x="9974120" y="4760654"/>
                  <a:ext cx="1889650" cy="494861"/>
                  <a:chOff x="9931143" y="6160582"/>
                  <a:chExt cx="1889650" cy="494861"/>
                </a:xfrm>
              </p:grpSpPr>
              <p:cxnSp>
                <p:nvCxnSpPr>
                  <p:cNvPr id="1152" name="直接连接符 1151">
                    <a:extLst>
                      <a:ext uri="{FF2B5EF4-FFF2-40B4-BE49-F238E27FC236}">
                        <a16:creationId xmlns:a16="http://schemas.microsoft.com/office/drawing/2014/main" id="{AA3343EC-1EB7-DE72-4F2A-68AB376046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931143" y="6525490"/>
                    <a:ext cx="682842" cy="12995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4" name="直接连接符 1153">
                    <a:extLst>
                      <a:ext uri="{FF2B5EF4-FFF2-40B4-BE49-F238E27FC236}">
                        <a16:creationId xmlns:a16="http://schemas.microsoft.com/office/drawing/2014/main" id="{39D512FB-7776-C9ED-86AA-67010872D5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442206" y="6160582"/>
                    <a:ext cx="480553" cy="9145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6" name="直接箭头连接符 1155">
                    <a:extLst>
                      <a:ext uri="{FF2B5EF4-FFF2-40B4-BE49-F238E27FC236}">
                        <a16:creationId xmlns:a16="http://schemas.microsoft.com/office/drawing/2014/main" id="{F4F14E9C-3305-A211-C462-B7B8C9C1EE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230651" y="6230875"/>
                    <a:ext cx="423110" cy="344402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61" name="文本框 1160">
                    <a:extLst>
                      <a:ext uri="{FF2B5EF4-FFF2-40B4-BE49-F238E27FC236}">
                        <a16:creationId xmlns:a16="http://schemas.microsoft.com/office/drawing/2014/main" id="{B29964EC-6844-635F-68F0-28726D265822}"/>
                      </a:ext>
                    </a:extLst>
                  </p:cNvPr>
                  <p:cNvSpPr txBox="1"/>
                  <p:nvPr/>
                </p:nvSpPr>
                <p:spPr>
                  <a:xfrm>
                    <a:off x="10519430" y="6270582"/>
                    <a:ext cx="13013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altLang="zh-CN" dirty="0"/>
                      <a:t>24.05mm</a:t>
                    </a:r>
                    <a:endParaRPr lang="zh-CN" altLang="en-US" dirty="0"/>
                  </a:p>
                </p:txBody>
              </p:sp>
            </p:grpSp>
          </p:grp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46CA40B6-ADEB-861C-2BF9-FFFFEAE60E89}"/>
                  </a:ext>
                </a:extLst>
              </p:cNvPr>
              <p:cNvSpPr txBox="1"/>
              <p:nvPr/>
            </p:nvSpPr>
            <p:spPr>
              <a:xfrm>
                <a:off x="1641983" y="6082928"/>
                <a:ext cx="24978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/>
                  <a:t>图</a:t>
                </a:r>
                <a:r>
                  <a:rPr lang="en-US" altLang="zh-CN" sz="2000" dirty="0"/>
                  <a:t>5. </a:t>
                </a:r>
                <a:r>
                  <a:rPr lang="zh-CN" altLang="en-US" sz="2000" dirty="0"/>
                  <a:t>平行孔参数示意</a:t>
                </a:r>
              </a:p>
            </p:txBody>
          </p:sp>
          <p:sp>
            <p:nvSpPr>
              <p:cNvPr id="1165" name="文本框 1164">
                <a:extLst>
                  <a:ext uri="{FF2B5EF4-FFF2-40B4-BE49-F238E27FC236}">
                    <a16:creationId xmlns:a16="http://schemas.microsoft.com/office/drawing/2014/main" id="{D7E94EF0-D1FA-7426-90A2-8EDC25032947}"/>
                  </a:ext>
                </a:extLst>
              </p:cNvPr>
              <p:cNvSpPr txBox="1"/>
              <p:nvPr/>
            </p:nvSpPr>
            <p:spPr>
              <a:xfrm>
                <a:off x="7142056" y="6082928"/>
                <a:ext cx="24978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/>
                  <a:t>图</a:t>
                </a:r>
                <a:r>
                  <a:rPr lang="en-US" altLang="zh-CN" sz="2000" dirty="0"/>
                  <a:t>6. </a:t>
                </a:r>
                <a:r>
                  <a:rPr lang="zh-CN" altLang="en-US" sz="2000" dirty="0"/>
                  <a:t>平行孔参数示意</a:t>
                </a:r>
              </a:p>
            </p:txBody>
          </p:sp>
        </p:grpSp>
        <p:sp>
          <p:nvSpPr>
            <p:cNvPr id="1167" name="椭圆 1166">
              <a:extLst>
                <a:ext uri="{FF2B5EF4-FFF2-40B4-BE49-F238E27FC236}">
                  <a16:creationId xmlns:a16="http://schemas.microsoft.com/office/drawing/2014/main" id="{16A6D0B5-A363-A372-57E8-DF876EDC54B6}"/>
                </a:ext>
              </a:extLst>
            </p:cNvPr>
            <p:cNvSpPr/>
            <p:nvPr/>
          </p:nvSpPr>
          <p:spPr>
            <a:xfrm>
              <a:off x="1181369" y="2451238"/>
              <a:ext cx="3671309" cy="367130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69" name="直接连接符 1168">
              <a:extLst>
                <a:ext uri="{FF2B5EF4-FFF2-40B4-BE49-F238E27FC236}">
                  <a16:creationId xmlns:a16="http://schemas.microsoft.com/office/drawing/2014/main" id="{11319B0F-A20F-E48C-55D0-5F6E05FAE638}"/>
                </a:ext>
              </a:extLst>
            </p:cNvPr>
            <p:cNvCxnSpPr>
              <a:cxnSpLocks/>
            </p:cNvCxnSpPr>
            <p:nvPr/>
          </p:nvCxnSpPr>
          <p:spPr>
            <a:xfrm>
              <a:off x="3468275" y="2494656"/>
              <a:ext cx="3457712" cy="94450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1" name="直接连接符 1170">
              <a:extLst>
                <a:ext uri="{FF2B5EF4-FFF2-40B4-BE49-F238E27FC236}">
                  <a16:creationId xmlns:a16="http://schemas.microsoft.com/office/drawing/2014/main" id="{22D7290A-C536-8B10-AD5E-FAEE84074266}"/>
                </a:ext>
              </a:extLst>
            </p:cNvPr>
            <p:cNvCxnSpPr>
              <a:cxnSpLocks/>
              <a:endCxn id="1174" idx="5"/>
            </p:cNvCxnSpPr>
            <p:nvPr/>
          </p:nvCxnSpPr>
          <p:spPr>
            <a:xfrm flipV="1">
              <a:off x="4106337" y="3872608"/>
              <a:ext cx="3003398" cy="191234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4" name="椭圆 1173">
              <a:extLst>
                <a:ext uri="{FF2B5EF4-FFF2-40B4-BE49-F238E27FC236}">
                  <a16:creationId xmlns:a16="http://schemas.microsoft.com/office/drawing/2014/main" id="{BC09BD5C-42CA-9765-7613-09C05BB710EE}"/>
                </a:ext>
              </a:extLst>
            </p:cNvPr>
            <p:cNvSpPr/>
            <p:nvPr/>
          </p:nvSpPr>
          <p:spPr>
            <a:xfrm>
              <a:off x="6666127" y="3429000"/>
              <a:ext cx="519719" cy="51971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80976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628F491-01C7-D99D-2F75-D73F785EF604}"/>
              </a:ext>
            </a:extLst>
          </p:cNvPr>
          <p:cNvSpPr txBox="1"/>
          <p:nvPr/>
        </p:nvSpPr>
        <p:spPr>
          <a:xfrm>
            <a:off x="0" y="167832"/>
            <a:ext cx="12192000" cy="6222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图像重建任务要求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（</a:t>
            </a:r>
            <a:r>
              <a:rPr lang="en-US" altLang="zh-CN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1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）系统矩阵建模</a:t>
            </a:r>
            <a:endParaRPr lang="en-US" altLang="zh-CN" sz="2400" b="1" dirty="0">
              <a:solidFill>
                <a:srgbClr val="000000"/>
              </a:solidFill>
              <a:ea typeface="DengXian" panose="02010600030101010101" pitchFamily="2" charset="-122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000" dirty="0">
                <a:latin typeface="+mn-ea"/>
              </a:rPr>
              <a:t>综合利用本次课程中学习到的知识，在不建模准直器的简化条件下计算系统传输矩阵，描述计算和建模过程。重建视野要求离散化为</a:t>
            </a:r>
            <a:r>
              <a:rPr lang="en-US" altLang="zh-CN" sz="2000" dirty="0">
                <a:latin typeface="+mn-ea"/>
              </a:rPr>
              <a:t>128*128*128</a:t>
            </a:r>
            <a:r>
              <a:rPr lang="zh-CN" altLang="en-US" sz="2000" dirty="0">
                <a:latin typeface="+mn-ea"/>
              </a:rPr>
              <a:t>个体素，每个体素尺寸为</a:t>
            </a:r>
            <a:r>
              <a:rPr lang="en-US" altLang="zh-CN" sz="2000" dirty="0">
                <a:latin typeface="+mn-ea"/>
              </a:rPr>
              <a:t>3.30*3.30*3.30mm</a:t>
            </a:r>
            <a:r>
              <a:rPr lang="zh-CN" altLang="en-US" sz="2000" dirty="0">
                <a:latin typeface="+mn-ea"/>
              </a:rPr>
              <a:t>（</a:t>
            </a:r>
            <a:r>
              <a:rPr lang="en-US" altLang="zh-CN" sz="2000" dirty="0">
                <a:latin typeface="+mn-ea"/>
              </a:rPr>
              <a:t>30</a:t>
            </a:r>
            <a:r>
              <a:rPr lang="zh-CN" altLang="en-US" sz="2000" dirty="0">
                <a:latin typeface="+mn-ea"/>
              </a:rPr>
              <a:t>分）</a:t>
            </a:r>
            <a:endParaRPr lang="en-US" altLang="zh-CN" sz="2000" dirty="0">
              <a:latin typeface="+mn-ea"/>
            </a:endParaRPr>
          </a:p>
          <a:p>
            <a:pPr lvl="3">
              <a:lnSpc>
                <a:spcPct val="150000"/>
              </a:lnSpc>
            </a:pPr>
            <a:r>
              <a:rPr lang="en-US" altLang="zh-CN" sz="2000" dirty="0"/>
              <a:t>Tips</a:t>
            </a:r>
            <a:r>
              <a:rPr lang="zh-CN" altLang="en-US" sz="2000" dirty="0"/>
              <a:t>：直接建模三维探测器对三维视野的系统响应计算量过大，对于平行孔准直器</a:t>
            </a:r>
            <a:r>
              <a:rPr lang="en-US" altLang="zh-CN" sz="2000" dirty="0"/>
              <a:t>SPECT</a:t>
            </a:r>
            <a:r>
              <a:rPr lang="zh-CN" altLang="en-US" sz="2000" dirty="0"/>
              <a:t>，可以建模一个二维探测器层对于和它对应的二维平面的系统响应，逐层重建拼成三维结果。</a:t>
            </a:r>
            <a:endParaRPr lang="en-US" altLang="zh-CN" sz="2000" dirty="0"/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endParaRPr lang="en-US" altLang="zh-CN" sz="2400" dirty="0"/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endParaRPr lang="en-US" altLang="zh-CN" sz="2400" dirty="0"/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endParaRPr lang="en-US" altLang="zh-CN" sz="2400" dirty="0"/>
          </a:p>
          <a:p>
            <a:pPr lvl="2">
              <a:lnSpc>
                <a:spcPct val="150000"/>
              </a:lnSpc>
            </a:pPr>
            <a:br>
              <a:rPr lang="zh-CN" altLang="en-US" sz="2400" dirty="0"/>
            </a:br>
            <a:endParaRPr lang="zh-CN" altLang="en-US" sz="2400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E6534E1-01DE-809B-5C05-55740EDA3D26}"/>
              </a:ext>
            </a:extLst>
          </p:cNvPr>
          <p:cNvGrpSpPr/>
          <p:nvPr/>
        </p:nvGrpSpPr>
        <p:grpSpPr>
          <a:xfrm>
            <a:off x="524609" y="4247994"/>
            <a:ext cx="11142782" cy="2314852"/>
            <a:chOff x="729110" y="4375316"/>
            <a:chExt cx="11142782" cy="2314852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89DA6A38-CF90-73E8-2453-A313EF5B0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110" y="4403455"/>
              <a:ext cx="6096000" cy="2286713"/>
            </a:xfrm>
            <a:prstGeom prst="rect">
              <a:avLst/>
            </a:prstGeom>
          </p:spPr>
        </p:pic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BF4124E-1A86-9E50-C783-A9122A32B99F}"/>
                </a:ext>
              </a:extLst>
            </p:cNvPr>
            <p:cNvGrpSpPr/>
            <p:nvPr/>
          </p:nvGrpSpPr>
          <p:grpSpPr>
            <a:xfrm>
              <a:off x="7554219" y="4375316"/>
              <a:ext cx="4317673" cy="2118690"/>
              <a:chOff x="7615112" y="4303019"/>
              <a:chExt cx="4317673" cy="2118690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F3432DC8-F45A-23C6-E56D-7DE7ADABEA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15112" y="5250213"/>
                <a:ext cx="4317673" cy="1171496"/>
              </a:xfrm>
              <a:prstGeom prst="rect">
                <a:avLst/>
              </a:prstGeom>
            </p:spPr>
          </p:pic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0448DAB9-2996-6387-1A89-6D69088854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15112" y="4303019"/>
                <a:ext cx="4317673" cy="1171496"/>
              </a:xfrm>
              <a:prstGeom prst="rect">
                <a:avLst/>
              </a:prstGeom>
            </p:spPr>
          </p:pic>
        </p:grpSp>
        <p:sp>
          <p:nvSpPr>
            <p:cNvPr id="11" name="箭头: 右 10">
              <a:extLst>
                <a:ext uri="{FF2B5EF4-FFF2-40B4-BE49-F238E27FC236}">
                  <a16:creationId xmlns:a16="http://schemas.microsoft.com/office/drawing/2014/main" id="{1883608D-DEFC-9F10-B7A3-827CE08CB874}"/>
                </a:ext>
              </a:extLst>
            </p:cNvPr>
            <p:cNvSpPr/>
            <p:nvPr/>
          </p:nvSpPr>
          <p:spPr>
            <a:xfrm>
              <a:off x="6620610" y="5545155"/>
              <a:ext cx="729109" cy="361147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260835D-DF51-6375-0EA8-14BC2CAD71EB}"/>
                </a:ext>
              </a:extLst>
            </p:cNvPr>
            <p:cNvSpPr txBox="1"/>
            <p:nvPr/>
          </p:nvSpPr>
          <p:spPr>
            <a:xfrm>
              <a:off x="6587780" y="5928903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简化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0924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628F491-01C7-D99D-2F75-D73F785EF604}"/>
              </a:ext>
            </a:extLst>
          </p:cNvPr>
          <p:cNvSpPr txBox="1"/>
          <p:nvPr/>
        </p:nvSpPr>
        <p:spPr>
          <a:xfrm>
            <a:off x="0" y="363994"/>
            <a:ext cx="12192000" cy="317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图像重建任务要求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（</a:t>
            </a:r>
            <a:r>
              <a:rPr lang="en-US" altLang="zh-CN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1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）系统矩阵建模</a:t>
            </a:r>
            <a:endParaRPr lang="en-US" altLang="zh-CN" sz="2400" b="1" dirty="0">
              <a:solidFill>
                <a:srgbClr val="000000"/>
              </a:solidFill>
              <a:ea typeface="DengXian" panose="02010600030101010101" pitchFamily="2" charset="-122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lphaLcParenR" startAt="2"/>
            </a:pPr>
            <a:r>
              <a:rPr lang="zh-CN" altLang="en-US" sz="2400" dirty="0"/>
              <a:t> </a:t>
            </a:r>
            <a:r>
              <a:rPr lang="zh-CN" altLang="en-US" sz="2000" dirty="0">
                <a:latin typeface="+mn-ea"/>
              </a:rPr>
              <a:t>（可选项）建模包含准直器模糊的系统矩阵，简单描述计算和建模过程（附加分</a:t>
            </a:r>
            <a:r>
              <a:rPr lang="en-US" altLang="zh-CN" sz="2000" dirty="0">
                <a:latin typeface="+mn-ea"/>
              </a:rPr>
              <a:t>20</a:t>
            </a:r>
            <a:r>
              <a:rPr lang="zh-CN" altLang="en-US" sz="2000" dirty="0">
                <a:latin typeface="+mn-ea"/>
              </a:rPr>
              <a:t>分）</a:t>
            </a:r>
            <a:endParaRPr lang="en-US" altLang="zh-CN" sz="20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000" dirty="0"/>
              <a:t>Options</a:t>
            </a:r>
            <a:r>
              <a:rPr lang="zh-CN" altLang="en-US" sz="2000" dirty="0"/>
              <a:t>：</a:t>
            </a:r>
            <a:r>
              <a:rPr lang="en-US" altLang="zh-CN" sz="2000" dirty="0"/>
              <a:t>1)</a:t>
            </a:r>
            <a:r>
              <a:rPr lang="zh-CN" altLang="en-US" sz="2000" dirty="0"/>
              <a:t>根据课件中的公式，近似计算高斯型准直器响应函数用以建模</a:t>
            </a:r>
            <a:r>
              <a:rPr lang="en-US" altLang="zh-CN" sz="2000" dirty="0"/>
              <a:t>;</a:t>
            </a:r>
          </a:p>
          <a:p>
            <a:pPr lvl="2">
              <a:lnSpc>
                <a:spcPct val="150000"/>
              </a:lnSpc>
            </a:pPr>
            <a:r>
              <a:rPr lang="en-US" altLang="zh-CN" sz="2000" dirty="0"/>
              <a:t>	   2) </a:t>
            </a:r>
            <a:r>
              <a:rPr lang="zh-CN" altLang="en-US" sz="2000" dirty="0"/>
              <a:t>查阅文献，在空域或者频域中实现准直器响应的建模。</a:t>
            </a:r>
            <a:br>
              <a:rPr lang="zh-CN" altLang="en-US" sz="2400" dirty="0"/>
            </a:b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F3D873-F58A-F885-020B-B852429FE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40" y="3688655"/>
            <a:ext cx="6096000" cy="2286713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5C58D8D5-BE16-698E-9EDD-89B5621334CF}"/>
              </a:ext>
            </a:extLst>
          </p:cNvPr>
          <p:cNvGrpSpPr/>
          <p:nvPr/>
        </p:nvGrpSpPr>
        <p:grpSpPr>
          <a:xfrm>
            <a:off x="7357449" y="3660516"/>
            <a:ext cx="4317673" cy="2118690"/>
            <a:chOff x="7615112" y="4303019"/>
            <a:chExt cx="4317673" cy="211869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9C1D454-1EE8-D29B-B143-8596E60DE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15112" y="5250213"/>
              <a:ext cx="4317673" cy="1171496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375E433-5493-3969-55A3-71662560A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15112" y="4303019"/>
              <a:ext cx="4317673" cy="1171496"/>
            </a:xfrm>
            <a:prstGeom prst="rect">
              <a:avLst/>
            </a:prstGeom>
          </p:spPr>
        </p:pic>
      </p:grpSp>
      <p:sp>
        <p:nvSpPr>
          <p:cNvPr id="13" name="箭头: 右 12">
            <a:extLst>
              <a:ext uri="{FF2B5EF4-FFF2-40B4-BE49-F238E27FC236}">
                <a16:creationId xmlns:a16="http://schemas.microsoft.com/office/drawing/2014/main" id="{86686735-AE82-10BE-D384-BD608CFFEFA2}"/>
              </a:ext>
            </a:extLst>
          </p:cNvPr>
          <p:cNvSpPr/>
          <p:nvPr/>
        </p:nvSpPr>
        <p:spPr>
          <a:xfrm>
            <a:off x="6423840" y="4830355"/>
            <a:ext cx="729109" cy="361147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E62C29A-56E6-BE17-AFCD-3F4BB83ADF7B}"/>
              </a:ext>
            </a:extLst>
          </p:cNvPr>
          <p:cNvSpPr txBox="1"/>
          <p:nvPr/>
        </p:nvSpPr>
        <p:spPr>
          <a:xfrm>
            <a:off x="6391010" y="521410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简化</a:t>
            </a:r>
          </a:p>
        </p:txBody>
      </p:sp>
    </p:spTree>
    <p:extLst>
      <p:ext uri="{BB962C8B-B14F-4D97-AF65-F5344CB8AC3E}">
        <p14:creationId xmlns:p14="http://schemas.microsoft.com/office/powerpoint/2010/main" val="2895608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628F491-01C7-D99D-2F75-D73F785EF604}"/>
              </a:ext>
            </a:extLst>
          </p:cNvPr>
          <p:cNvSpPr txBox="1"/>
          <p:nvPr/>
        </p:nvSpPr>
        <p:spPr>
          <a:xfrm>
            <a:off x="0" y="353655"/>
            <a:ext cx="12192000" cy="3000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图像重建任务要求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ea typeface="DengXian" panose="02010600030101010101" pitchFamily="2" charset="-122"/>
              </a:rPr>
              <a:t>2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）</a:t>
            </a:r>
            <a:r>
              <a:rPr lang="en-US" altLang="zh-CN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OSEM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重建</a:t>
            </a:r>
            <a:endParaRPr lang="en-US" altLang="zh-CN" sz="2400" b="1" dirty="0">
              <a:solidFill>
                <a:srgbClr val="000000"/>
              </a:solidFill>
              <a:ea typeface="DengXian" panose="02010600030101010101" pitchFamily="2" charset="-122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000" dirty="0">
                <a:latin typeface="+mn-ea"/>
              </a:rPr>
              <a:t>根据建模好的系统矩阵，选择合适的有序子集数目和迭代次数， 对投影数据进行重建，展示重建图像（</a:t>
            </a:r>
            <a:r>
              <a:rPr lang="en-US" altLang="zh-CN" sz="2000" dirty="0">
                <a:latin typeface="+mn-ea"/>
              </a:rPr>
              <a:t>35 </a:t>
            </a:r>
            <a:r>
              <a:rPr lang="zh-CN" altLang="en-US" sz="2000" dirty="0">
                <a:latin typeface="+mn-ea"/>
              </a:rPr>
              <a:t>分）</a:t>
            </a:r>
            <a:endParaRPr lang="en-US" altLang="zh-CN" sz="2000" dirty="0">
              <a:latin typeface="+mn-ea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000" dirty="0">
                <a:latin typeface="+mn-ea"/>
              </a:rPr>
              <a:t>（可选）尝试用基于二次平滑、稀疏先验等正则约束的</a:t>
            </a:r>
            <a:r>
              <a:rPr lang="en-US" altLang="zh-CN" sz="2000" dirty="0">
                <a:latin typeface="+mn-ea"/>
              </a:rPr>
              <a:t>MAP</a:t>
            </a:r>
            <a:r>
              <a:rPr lang="zh-CN" altLang="en-US" sz="2000" dirty="0">
                <a:latin typeface="+mn-ea"/>
              </a:rPr>
              <a:t>重建（附加分</a:t>
            </a:r>
            <a:r>
              <a:rPr lang="en-US" altLang="zh-CN" sz="2000" dirty="0">
                <a:latin typeface="+mn-ea"/>
              </a:rPr>
              <a:t>30</a:t>
            </a:r>
            <a:r>
              <a:rPr lang="zh-CN" altLang="en-US" sz="2000" dirty="0">
                <a:latin typeface="+mn-ea"/>
              </a:rPr>
              <a:t>分）</a:t>
            </a:r>
            <a:endParaRPr lang="en-US" altLang="zh-CN" sz="20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000" dirty="0"/>
              <a:t>Tips</a:t>
            </a:r>
            <a:r>
              <a:rPr lang="zh-CN" altLang="en-US" sz="2000" dirty="0"/>
              <a:t>：可以利用</a:t>
            </a:r>
            <a:r>
              <a:rPr lang="en-US" altLang="zh-CN" sz="2000" dirty="0"/>
              <a:t>GPU</a:t>
            </a:r>
            <a:r>
              <a:rPr lang="zh-CN" altLang="en-US" sz="2000" dirty="0"/>
              <a:t>和并行策略进行加速</a:t>
            </a:r>
            <a:endParaRPr lang="en-US" altLang="zh-CN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5EAA10-E188-430A-86B8-91DE1885ABC2}"/>
              </a:ext>
            </a:extLst>
          </p:cNvPr>
          <p:cNvSpPr txBox="1"/>
          <p:nvPr/>
        </p:nvSpPr>
        <p:spPr>
          <a:xfrm>
            <a:off x="64851" y="3890022"/>
            <a:ext cx="12062298" cy="244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ea typeface="DengXian" panose="02010600030101010101" pitchFamily="2" charset="-122"/>
              </a:rPr>
              <a:t>3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）图像分析评估</a:t>
            </a:r>
            <a:endParaRPr lang="en-US" altLang="zh-CN" sz="2400" b="1" dirty="0">
              <a:solidFill>
                <a:srgbClr val="000000"/>
              </a:solidFill>
              <a:ea typeface="DengXian" panose="02010600030101010101" pitchFamily="2" charset="-122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000" dirty="0">
                <a:latin typeface="+mn-ea"/>
              </a:rPr>
              <a:t>调研整理至少两个常用的图像质量评估指标，说明指标的含义和计算方法。（</a:t>
            </a:r>
            <a:r>
              <a:rPr lang="en-US" altLang="zh-CN" sz="2000" dirty="0">
                <a:latin typeface="+mn-ea"/>
              </a:rPr>
              <a:t>10</a:t>
            </a:r>
            <a:r>
              <a:rPr lang="zh-CN" altLang="en-US" sz="2000" dirty="0">
                <a:latin typeface="+mn-ea"/>
              </a:rPr>
              <a:t>分）</a:t>
            </a:r>
            <a:endParaRPr lang="en-US" altLang="zh-CN" sz="2000" dirty="0">
              <a:latin typeface="+mn-ea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000" dirty="0">
                <a:latin typeface="+mn-ea"/>
              </a:rPr>
              <a:t>根据调研结果，计算所得重建图像的质量评估指标数值，并与参考结果</a:t>
            </a:r>
            <a:r>
              <a:rPr lang="en-US" altLang="zh-CN" sz="2000" dirty="0">
                <a:latin typeface="+mn-ea"/>
              </a:rPr>
              <a:t>OSEMReconed.dat</a:t>
            </a:r>
            <a:r>
              <a:rPr lang="zh-CN" altLang="en-US" sz="2000" dirty="0">
                <a:latin typeface="+mn-ea"/>
              </a:rPr>
              <a:t>对比。参考结果为二进制 </a:t>
            </a:r>
            <a:r>
              <a:rPr lang="en-US" altLang="zh-CN" sz="2000" dirty="0">
                <a:latin typeface="+mn-ea"/>
              </a:rPr>
              <a:t>float32 </a:t>
            </a:r>
            <a:r>
              <a:rPr lang="zh-CN" altLang="en-US" sz="2000" dirty="0">
                <a:latin typeface="+mn-ea"/>
              </a:rPr>
              <a:t>数组，组织格式 </a:t>
            </a:r>
            <a:r>
              <a:rPr lang="en-US" altLang="zh-CN" sz="2000" dirty="0">
                <a:latin typeface="+mn-ea"/>
              </a:rPr>
              <a:t>128*128*128</a:t>
            </a:r>
            <a:r>
              <a:rPr lang="zh-CN" altLang="en-US" sz="2000" dirty="0">
                <a:latin typeface="+mn-ea"/>
              </a:rPr>
              <a:t>，像素尺寸：</a:t>
            </a:r>
            <a:r>
              <a:rPr lang="en-US" altLang="zh-CN" sz="2000" dirty="0">
                <a:latin typeface="+mn-ea"/>
              </a:rPr>
              <a:t>3.30*3.30*3.30mm</a:t>
            </a:r>
            <a:r>
              <a:rPr lang="zh-CN" altLang="en-US" sz="2000" dirty="0">
                <a:latin typeface="+mn-ea"/>
              </a:rPr>
              <a:t>。分析结果并提出可能的改进方法。（</a:t>
            </a:r>
            <a:r>
              <a:rPr lang="en-US" altLang="zh-CN" sz="2000" dirty="0">
                <a:latin typeface="+mn-ea"/>
              </a:rPr>
              <a:t>15</a:t>
            </a:r>
            <a:r>
              <a:rPr lang="zh-CN" altLang="en-US" sz="2000" dirty="0">
                <a:latin typeface="+mn-ea"/>
              </a:rPr>
              <a:t>分）</a:t>
            </a:r>
            <a:endParaRPr lang="en-US" altLang="zh-CN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59531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628F491-01C7-D99D-2F75-D73F785EF604}"/>
              </a:ext>
            </a:extLst>
          </p:cNvPr>
          <p:cNvSpPr txBox="1"/>
          <p:nvPr/>
        </p:nvSpPr>
        <p:spPr>
          <a:xfrm>
            <a:off x="0" y="107221"/>
            <a:ext cx="12192000" cy="2538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图像重建任务要求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ea typeface="DengXian" panose="02010600030101010101" pitchFamily="2" charset="-122"/>
              </a:rPr>
              <a:t>3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）图像分析评估</a:t>
            </a:r>
            <a:endParaRPr lang="en-US" altLang="zh-CN" sz="2400" b="1" dirty="0">
              <a:solidFill>
                <a:srgbClr val="000000"/>
              </a:solidFill>
              <a:ea typeface="DengXian" panose="02010600030101010101" pitchFamily="2" charset="-122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lphaLcParenR" startAt="3"/>
            </a:pPr>
            <a:r>
              <a:rPr lang="zh-CN" altLang="en-US" sz="2000" dirty="0">
                <a:latin typeface="+mn-ea"/>
              </a:rPr>
              <a:t>尝试不同的图像后处理算法对</a:t>
            </a:r>
            <a:r>
              <a:rPr lang="en-US" altLang="zh-CN" sz="2000" dirty="0">
                <a:latin typeface="+mn-ea"/>
              </a:rPr>
              <a:t>OSEM</a:t>
            </a:r>
            <a:r>
              <a:rPr lang="zh-CN" altLang="en-US" sz="2000" dirty="0">
                <a:latin typeface="+mn-ea"/>
              </a:rPr>
              <a:t>重建的结果进行后处理，并与经过高斯滤波的重建结果</a:t>
            </a:r>
            <a:r>
              <a:rPr lang="en-US" altLang="zh-CN" sz="2000" dirty="0">
                <a:latin typeface="+mn-ea"/>
              </a:rPr>
              <a:t>Filtered.dat</a:t>
            </a:r>
            <a:r>
              <a:rPr lang="zh-CN" altLang="en-US" sz="2000" dirty="0">
                <a:latin typeface="+mn-ea"/>
              </a:rPr>
              <a:t>对比。</a:t>
            </a:r>
            <a:r>
              <a:rPr lang="en-US" altLang="zh-CN" sz="2000" dirty="0">
                <a:latin typeface="+mn-ea"/>
              </a:rPr>
              <a:t>Filtered.dat</a:t>
            </a:r>
            <a:r>
              <a:rPr lang="zh-CN" altLang="en-US" sz="2000" dirty="0">
                <a:latin typeface="+mn-ea"/>
              </a:rPr>
              <a:t>文件格式与</a:t>
            </a:r>
            <a:r>
              <a:rPr lang="en-US" altLang="zh-CN" sz="2000" dirty="0">
                <a:latin typeface="+mn-ea"/>
              </a:rPr>
              <a:t>OSEMReconed.dat</a:t>
            </a:r>
            <a:r>
              <a:rPr lang="zh-CN" altLang="en-US" sz="2000" dirty="0">
                <a:latin typeface="+mn-ea"/>
              </a:rPr>
              <a:t>相同。（</a:t>
            </a:r>
            <a:r>
              <a:rPr lang="en-US" altLang="zh-CN" sz="2000" dirty="0">
                <a:latin typeface="+mn-ea"/>
              </a:rPr>
              <a:t>10</a:t>
            </a:r>
            <a:r>
              <a:rPr lang="zh-CN" altLang="en-US" sz="2000" dirty="0">
                <a:latin typeface="+mn-ea"/>
              </a:rPr>
              <a:t>分）</a:t>
            </a:r>
            <a:endParaRPr lang="en-US" altLang="zh-CN" sz="20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   （</a:t>
            </a:r>
            <a:r>
              <a:rPr lang="en-US" altLang="zh-CN" sz="2000" dirty="0"/>
              <a:t>Filtered.dat</a:t>
            </a:r>
            <a:r>
              <a:rPr lang="zh-CN" altLang="en-US" sz="2000" dirty="0"/>
              <a:t>后滤波参数：三维高斯滤波，</a:t>
            </a:r>
            <a:r>
              <a:rPr lang="en-US" altLang="zh-CN" sz="2000" dirty="0"/>
              <a:t>FWHM10mm</a:t>
            </a:r>
            <a:r>
              <a:rPr lang="zh-CN" altLang="en-US" sz="2000" dirty="0"/>
              <a:t>，卷积核</a:t>
            </a:r>
            <a:r>
              <a:rPr lang="en-US" altLang="zh-CN" sz="2000" dirty="0"/>
              <a:t>7*7*7</a:t>
            </a:r>
            <a:r>
              <a:rPr lang="zh-CN" altLang="en-US" sz="2000" dirty="0"/>
              <a:t>。）</a:t>
            </a:r>
            <a:endParaRPr lang="en-US" altLang="zh-CN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E446B8-4726-F7C8-4442-134C0039960C}"/>
              </a:ext>
            </a:extLst>
          </p:cNvPr>
          <p:cNvSpPr txBox="1"/>
          <p:nvPr/>
        </p:nvSpPr>
        <p:spPr>
          <a:xfrm>
            <a:off x="90791" y="4159102"/>
            <a:ext cx="11348937" cy="2252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结果展示软件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000" dirty="0">
                <a:latin typeface="+mn-ea"/>
              </a:rPr>
              <a:t>投影数据和重建数据建议使用</a:t>
            </a:r>
            <a:r>
              <a:rPr lang="en-US" altLang="zh-CN" sz="2000" dirty="0">
                <a:latin typeface="+mn-ea"/>
              </a:rPr>
              <a:t>Amide</a:t>
            </a:r>
            <a:r>
              <a:rPr lang="zh-CN" altLang="en-US" sz="2000" dirty="0">
                <a:latin typeface="+mn-ea"/>
              </a:rPr>
              <a:t>软件显示和整理结果，</a:t>
            </a:r>
            <a:r>
              <a:rPr lang="en-US" altLang="zh-CN" sz="2000" dirty="0">
                <a:latin typeface="+mn-ea"/>
              </a:rPr>
              <a:t>Amide</a:t>
            </a:r>
            <a:r>
              <a:rPr lang="zh-CN" altLang="en-US" sz="2000" dirty="0">
                <a:latin typeface="+mn-ea"/>
              </a:rPr>
              <a:t>软件下载地址：</a:t>
            </a:r>
            <a:r>
              <a:rPr lang="en-US" altLang="zh-CN" sz="2000" dirty="0"/>
              <a:t>https://amide.sourceforge.net</a:t>
            </a:r>
            <a:r>
              <a:rPr lang="zh-CN" altLang="en-US" sz="2400" dirty="0"/>
              <a:t>。</a:t>
            </a:r>
            <a:r>
              <a:rPr lang="en-US" altLang="zh-CN" sz="2000" dirty="0">
                <a:latin typeface="+mn-ea"/>
              </a:rPr>
              <a:t>Amide</a:t>
            </a:r>
            <a:r>
              <a:rPr lang="zh-CN" altLang="en-US" sz="2000" dirty="0">
                <a:latin typeface="+mn-ea"/>
              </a:rPr>
              <a:t>简单导入示例如下：</a:t>
            </a:r>
            <a:endParaRPr lang="en-US" altLang="zh-CN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953826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E49B3F1-0339-B40E-B54D-F3163BA75774}"/>
                  </a:ext>
                </a:extLst>
              </p:cNvPr>
              <p:cNvSpPr txBox="1"/>
              <p:nvPr/>
            </p:nvSpPr>
            <p:spPr>
              <a:xfrm>
                <a:off x="-1" y="332510"/>
                <a:ext cx="12192001" cy="1698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 startAt="4"/>
                </a:pPr>
                <a:r>
                  <a:rPr lang="zh-CN" altLang="en-US" sz="2400" b="1" i="0" dirty="0">
                    <a:solidFill>
                      <a:srgbClr val="000000"/>
                    </a:solidFill>
                    <a:effectLst/>
                    <a:ea typeface="DengXian" panose="02010600030101010101" pitchFamily="2" charset="-122"/>
                  </a:rPr>
                  <a:t>结果展示软件</a:t>
                </a:r>
                <a:endParaRPr lang="en-US" altLang="zh-CN" sz="2400" b="1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2400" dirty="0"/>
                  <a:t>	File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/>
                  <a:t>Import File(Specify)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/>
                  <a:t>Raw Data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/>
                  <a:t>e.g. Choose Proj.dat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2400" dirty="0"/>
                  <a:t>接下页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E49B3F1-0339-B40E-B54D-F3163BA75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32510"/>
                <a:ext cx="12192001" cy="1698029"/>
              </a:xfrm>
              <a:prstGeom prst="rect">
                <a:avLst/>
              </a:prstGeom>
              <a:blipFill>
                <a:blip r:embed="rId3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5" name="图形 1024" descr="无填充的笑脸">
            <a:extLst>
              <a:ext uri="{FF2B5EF4-FFF2-40B4-BE49-F238E27FC236}">
                <a16:creationId xmlns:a16="http://schemas.microsoft.com/office/drawing/2014/main" id="{F350F230-6832-DC3E-CE26-7047F91B6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5030" y="3580013"/>
            <a:ext cx="914400" cy="914400"/>
          </a:xfrm>
          <a:prstGeom prst="rect">
            <a:avLst/>
          </a:prstGeom>
        </p:spPr>
      </p:pic>
      <p:grpSp>
        <p:nvGrpSpPr>
          <p:cNvPr id="1054" name="组合 1053">
            <a:extLst>
              <a:ext uri="{FF2B5EF4-FFF2-40B4-BE49-F238E27FC236}">
                <a16:creationId xmlns:a16="http://schemas.microsoft.com/office/drawing/2014/main" id="{23DA2E92-EC93-8C8F-26F9-B0A73FF76F57}"/>
              </a:ext>
            </a:extLst>
          </p:cNvPr>
          <p:cNvGrpSpPr/>
          <p:nvPr/>
        </p:nvGrpSpPr>
        <p:grpSpPr>
          <a:xfrm>
            <a:off x="2159976" y="1764511"/>
            <a:ext cx="7872045" cy="4088203"/>
            <a:chOff x="2092569" y="1993111"/>
            <a:chExt cx="7872045" cy="4088203"/>
          </a:xfrm>
        </p:grpSpPr>
        <p:pic>
          <p:nvPicPr>
            <p:cNvPr id="1049" name="图片 1048">
              <a:extLst>
                <a:ext uri="{FF2B5EF4-FFF2-40B4-BE49-F238E27FC236}">
                  <a16:creationId xmlns:a16="http://schemas.microsoft.com/office/drawing/2014/main" id="{212A677D-52F3-2A20-5AC2-6404A52B1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7383" y="1993111"/>
              <a:ext cx="7737231" cy="4088203"/>
            </a:xfrm>
            <a:prstGeom prst="rect">
              <a:avLst/>
            </a:prstGeom>
          </p:spPr>
        </p:pic>
        <p:sp>
          <p:nvSpPr>
            <p:cNvPr id="1050" name="椭圆 1049">
              <a:extLst>
                <a:ext uri="{FF2B5EF4-FFF2-40B4-BE49-F238E27FC236}">
                  <a16:creationId xmlns:a16="http://schemas.microsoft.com/office/drawing/2014/main" id="{5BE924BF-7092-54E3-A7F3-E5C2D591F802}"/>
                </a:ext>
              </a:extLst>
            </p:cNvPr>
            <p:cNvSpPr/>
            <p:nvPr/>
          </p:nvSpPr>
          <p:spPr>
            <a:xfrm>
              <a:off x="2092569" y="2145323"/>
              <a:ext cx="518746" cy="35169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B3529656-F871-44CC-B5F1-7976550F3638}"/>
              </a:ext>
            </a:extLst>
          </p:cNvPr>
          <p:cNvSpPr txBox="1"/>
          <p:nvPr/>
        </p:nvSpPr>
        <p:spPr>
          <a:xfrm>
            <a:off x="1033272" y="6063825"/>
            <a:ext cx="7199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请注意</a:t>
            </a:r>
            <a:r>
              <a:rPr lang="en-US" altLang="zh-CN" sz="2400" dirty="0">
                <a:solidFill>
                  <a:srgbClr val="FF0000"/>
                </a:solidFill>
              </a:rPr>
              <a:t>Amide</a:t>
            </a:r>
            <a:r>
              <a:rPr lang="zh-CN" altLang="en-US" sz="2400" dirty="0">
                <a:solidFill>
                  <a:srgbClr val="FF0000"/>
                </a:solidFill>
              </a:rPr>
              <a:t>读取的文件路径中不能包含中文字符！</a:t>
            </a:r>
          </a:p>
        </p:txBody>
      </p:sp>
    </p:spTree>
    <p:extLst>
      <p:ext uri="{BB962C8B-B14F-4D97-AF65-F5344CB8AC3E}">
        <p14:creationId xmlns:p14="http://schemas.microsoft.com/office/powerpoint/2010/main" val="2667135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图形 1024" descr="无填充的笑脸">
            <a:extLst>
              <a:ext uri="{FF2B5EF4-FFF2-40B4-BE49-F238E27FC236}">
                <a16:creationId xmlns:a16="http://schemas.microsoft.com/office/drawing/2014/main" id="{F350F230-6832-DC3E-CE26-7047F91B6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5030" y="3580013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6C1745-F3D9-3E8E-1592-ED50C5BCBDAB}"/>
              </a:ext>
            </a:extLst>
          </p:cNvPr>
          <p:cNvSpPr txBox="1"/>
          <p:nvPr/>
        </p:nvSpPr>
        <p:spPr>
          <a:xfrm>
            <a:off x="-1" y="332510"/>
            <a:ext cx="12192001" cy="114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结果展示软件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400" dirty="0"/>
              <a:t>选择数据类型与组织格式</a:t>
            </a:r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518FA2B-2A59-48C4-A59A-B9FB209B1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6624" y="1760245"/>
            <a:ext cx="8573696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166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图形 1024" descr="无填充的笑脸">
            <a:extLst>
              <a:ext uri="{FF2B5EF4-FFF2-40B4-BE49-F238E27FC236}">
                <a16:creationId xmlns:a16="http://schemas.microsoft.com/office/drawing/2014/main" id="{F350F230-6832-DC3E-CE26-7047F91B6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5030" y="3580013"/>
            <a:ext cx="914400" cy="914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D5C196F-255A-D464-4D8A-AC6841FCA9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037" y="1567016"/>
            <a:ext cx="9015922" cy="37239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025F057-A283-888D-329C-41EDF9D3345B}"/>
              </a:ext>
            </a:extLst>
          </p:cNvPr>
          <p:cNvSpPr txBox="1"/>
          <p:nvPr/>
        </p:nvSpPr>
        <p:spPr>
          <a:xfrm>
            <a:off x="-1" y="332510"/>
            <a:ext cx="12192001" cy="114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ea typeface="DengXian" panose="02010600030101010101" pitchFamily="2" charset="-122"/>
              </a:rPr>
              <a:t>结果展示软件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400" dirty="0"/>
              <a:t>展示并保存结果为</a:t>
            </a:r>
            <a:r>
              <a:rPr lang="en-US" altLang="zh-CN" sz="2400" dirty="0"/>
              <a:t>.</a:t>
            </a:r>
            <a:r>
              <a:rPr lang="en-US" altLang="zh-CN" sz="2400" dirty="0" err="1"/>
              <a:t>xif</a:t>
            </a:r>
            <a:r>
              <a:rPr lang="zh-CN" altLang="en-US" sz="2400" dirty="0"/>
              <a:t>文件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5C39204-2B39-4EAA-2507-D83D9E0D3422}"/>
                  </a:ext>
                </a:extLst>
              </p:cNvPr>
              <p:cNvSpPr txBox="1"/>
              <p:nvPr/>
            </p:nvSpPr>
            <p:spPr>
              <a:xfrm>
                <a:off x="436944" y="5526629"/>
                <a:ext cx="9829799" cy="588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en-US" altLang="zh-CN" sz="2400" dirty="0"/>
                  <a:t>File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/>
                  <a:t>Save study as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5C39204-2B39-4EAA-2507-D83D9E0D3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44" y="5526629"/>
                <a:ext cx="9829799" cy="588879"/>
              </a:xfrm>
              <a:prstGeom prst="rect">
                <a:avLst/>
              </a:prstGeom>
              <a:blipFill>
                <a:blip r:embed="rId6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2993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I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1128</Words>
  <Application>Microsoft Office PowerPoint</Application>
  <PresentationFormat>宽屏</PresentationFormat>
  <Paragraphs>117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Arial</vt:lpstr>
      <vt:lpstr>Cambria Math</vt:lpstr>
      <vt:lpstr>Office 主题​​</vt:lpstr>
      <vt:lpstr>SPECT大作业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SPECT大作业</dc:title>
  <dc:creator>兴春 郑</dc:creator>
  <cp:lastModifiedBy>tianyu ma</cp:lastModifiedBy>
  <cp:revision>275</cp:revision>
  <dcterms:created xsi:type="dcterms:W3CDTF">2023-12-20T13:11:34Z</dcterms:created>
  <dcterms:modified xsi:type="dcterms:W3CDTF">2025-12-09T05:45:52Z</dcterms:modified>
</cp:coreProperties>
</file>